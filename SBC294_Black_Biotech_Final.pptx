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128016" cy="5143500"/>
          </a:xfrm>
          <a:prstGeom prst="rect">
            <a:avLst/>
          </a:prstGeom>
          <a:solidFill>
            <a:srgbClr val="D4AF37"/>
          </a:solidFill>
          <a:ln/>
        </p:spPr>
      </p:sp>
      <p:sp>
        <p:nvSpPr>
          <p:cNvPr id="3" name="Shape 1"/>
          <p:cNvSpPr/>
          <p:nvPr/>
        </p:nvSpPr>
        <p:spPr>
          <a:xfrm>
            <a:off x="0" y="4480560"/>
            <a:ext cx="9144000" cy="662940"/>
          </a:xfrm>
          <a:prstGeom prst="rect">
            <a:avLst/>
          </a:prstGeom>
          <a:solidFill>
            <a:srgbClr val="D4AF37"/>
          </a:solidFill>
          <a:ln/>
        </p:spPr>
      </p:sp>
      <p:sp>
        <p:nvSpPr>
          <p:cNvPr id="4" name="Text 2"/>
          <p:cNvSpPr/>
          <p:nvPr/>
        </p:nvSpPr>
        <p:spPr>
          <a:xfrm>
            <a:off x="182880" y="274320"/>
            <a:ext cx="5029200" cy="2286000"/>
          </a:xfrm>
          <a:prstGeom prst="rect">
            <a:avLst/>
          </a:prstGeom>
          <a:noFill/>
          <a:ln/>
        </p:spPr>
        <p:txBody>
          <a:bodyPr wrap="square" lIns="0" tIns="0" rIns="0" bIns="0" rtlCol="0" anchor="ctr"/>
          <a:lstStyle/>
          <a:p>
            <a:pPr algn="l" indent="0" marL="0">
              <a:buNone/>
            </a:pPr>
            <a:r>
              <a:rPr lang="en-US" sz="10000" b="1" spc="1800" kern="0" dirty="0">
                <a:solidFill>
                  <a:srgbClr val="FFFFFF"/>
                </a:solidFill>
                <a:latin typeface="Arial Black" pitchFamily="34" charset="0"/>
                <a:ea typeface="Arial Black" pitchFamily="34" charset="-122"/>
                <a:cs typeface="Arial Black" pitchFamily="34" charset="-120"/>
              </a:rPr>
              <a:t>BLACK</a:t>
            </a:r>
            <a:endParaRPr lang="en-US" sz="10000" dirty="0"/>
          </a:p>
        </p:txBody>
      </p:sp>
      <p:sp>
        <p:nvSpPr>
          <p:cNvPr id="5" name="Shape 3"/>
          <p:cNvSpPr/>
          <p:nvPr/>
        </p:nvSpPr>
        <p:spPr>
          <a:xfrm>
            <a:off x="182880" y="2633472"/>
            <a:ext cx="3657600" cy="54864"/>
          </a:xfrm>
          <a:prstGeom prst="rect">
            <a:avLst/>
          </a:prstGeom>
          <a:solidFill>
            <a:srgbClr val="D4AF37"/>
          </a:solidFill>
          <a:ln/>
        </p:spPr>
      </p:sp>
      <p:sp>
        <p:nvSpPr>
          <p:cNvPr id="6" name="Text 4"/>
          <p:cNvSpPr/>
          <p:nvPr/>
        </p:nvSpPr>
        <p:spPr>
          <a:xfrm>
            <a:off x="182880" y="2743200"/>
            <a:ext cx="4937760" cy="438912"/>
          </a:xfrm>
          <a:prstGeom prst="rect">
            <a:avLst/>
          </a:prstGeom>
          <a:noFill/>
          <a:ln/>
        </p:spPr>
        <p:txBody>
          <a:bodyPr wrap="square" lIns="0" tIns="0" rIns="0" bIns="0" rtlCol="0" anchor="ctr"/>
          <a:lstStyle/>
          <a:p>
            <a:pPr algn="l" indent="0" marL="0">
              <a:buNone/>
            </a:pPr>
            <a:r>
              <a:rPr lang="en-US" sz="1800" i="1" dirty="0">
                <a:solidFill>
                  <a:srgbClr val="CCCCCC"/>
                </a:solidFill>
                <a:latin typeface="Calibri" pitchFamily="34" charset="0"/>
                <a:ea typeface="Calibri" pitchFamily="34" charset="-122"/>
                <a:cs typeface="Calibri" pitchFamily="34" charset="-120"/>
              </a:rPr>
              <a:t>Biotechnology Applications</a:t>
            </a:r>
            <a:endParaRPr lang="en-US" sz="1800" dirty="0"/>
          </a:p>
        </p:txBody>
      </p:sp>
      <p:sp>
        <p:nvSpPr>
          <p:cNvPr id="7" name="Text 5"/>
          <p:cNvSpPr/>
          <p:nvPr/>
        </p:nvSpPr>
        <p:spPr>
          <a:xfrm>
            <a:off x="182880" y="3236976"/>
            <a:ext cx="4937760" cy="292608"/>
          </a:xfrm>
          <a:prstGeom prst="rect">
            <a:avLst/>
          </a:prstGeom>
          <a:noFill/>
          <a:ln/>
        </p:spPr>
        <p:txBody>
          <a:bodyPr wrap="square" lIns="0" tIns="0" rIns="0" bIns="0" rtlCol="0" anchor="ctr"/>
          <a:lstStyle/>
          <a:p>
            <a:pPr algn="l" indent="0" marL="0">
              <a:buNone/>
            </a:pPr>
            <a:r>
              <a:rPr lang="en-US" sz="1200" dirty="0">
                <a:solidFill>
                  <a:srgbClr val="AAAAAA"/>
                </a:solidFill>
                <a:latin typeface="Calibri" pitchFamily="34" charset="0"/>
                <a:ea typeface="Calibri" pitchFamily="34" charset="-122"/>
                <a:cs typeface="Calibri" pitchFamily="34" charset="-120"/>
              </a:rPr>
              <a:t>SBC 294 · Fundamentals of Biotechnology</a:t>
            </a:r>
            <a:endParaRPr lang="en-US" sz="1200" dirty="0"/>
          </a:p>
        </p:txBody>
      </p:sp>
      <p:sp>
        <p:nvSpPr>
          <p:cNvPr id="8" name="Shape 6"/>
          <p:cNvSpPr/>
          <p:nvPr/>
        </p:nvSpPr>
        <p:spPr>
          <a:xfrm>
            <a:off x="5257800" y="320040"/>
            <a:ext cx="3657600" cy="4005072"/>
          </a:xfrm>
          <a:prstGeom prst="rect">
            <a:avLst/>
          </a:prstGeom>
          <a:solidFill>
            <a:srgbClr val="111111"/>
          </a:solidFill>
          <a:ln w="15240">
            <a:solidFill>
              <a:srgbClr val="D4AF37"/>
            </a:solidFill>
            <a:prstDash val="solid"/>
          </a:ln>
        </p:spPr>
      </p:sp>
      <p:sp>
        <p:nvSpPr>
          <p:cNvPr id="9" name="Shape 7"/>
          <p:cNvSpPr/>
          <p:nvPr/>
        </p:nvSpPr>
        <p:spPr>
          <a:xfrm>
            <a:off x="5257800" y="320040"/>
            <a:ext cx="3657600" cy="411480"/>
          </a:xfrm>
          <a:prstGeom prst="rect">
            <a:avLst/>
          </a:prstGeom>
          <a:solidFill>
            <a:srgbClr val="D4AF37"/>
          </a:solidFill>
          <a:ln/>
        </p:spPr>
      </p:sp>
      <p:sp>
        <p:nvSpPr>
          <p:cNvPr id="10" name="Text 8"/>
          <p:cNvSpPr/>
          <p:nvPr/>
        </p:nvSpPr>
        <p:spPr>
          <a:xfrm>
            <a:off x="5257800" y="320040"/>
            <a:ext cx="3657600" cy="411480"/>
          </a:xfrm>
          <a:prstGeom prst="rect">
            <a:avLst/>
          </a:prstGeom>
          <a:noFill/>
          <a:ln/>
        </p:spPr>
        <p:txBody>
          <a:bodyPr wrap="square" lIns="0" tIns="0" rIns="0" bIns="0" rtlCol="0" anchor="ctr"/>
          <a:lstStyle/>
          <a:p>
            <a:pPr algn="ctr" indent="0" marL="0">
              <a:buNone/>
            </a:pPr>
            <a:r>
              <a:rPr lang="en-US" sz="1200" b="1" dirty="0">
                <a:solidFill>
                  <a:srgbClr val="0A0A0A"/>
                </a:solidFill>
                <a:latin typeface="Arial Black" pitchFamily="34" charset="0"/>
                <a:ea typeface="Arial Black" pitchFamily="34" charset="-122"/>
                <a:cs typeface="Arial Black" pitchFamily="34" charset="-120"/>
              </a:rPr>
              <a:t>GROUP MEMBERS</a:t>
            </a:r>
            <a:endParaRPr lang="en-US" sz="1200" dirty="0"/>
          </a:p>
        </p:txBody>
      </p:sp>
      <p:sp>
        <p:nvSpPr>
          <p:cNvPr id="11" name="Shape 9"/>
          <p:cNvSpPr/>
          <p:nvPr/>
        </p:nvSpPr>
        <p:spPr>
          <a:xfrm>
            <a:off x="5413248" y="932688"/>
            <a:ext cx="347472" cy="347472"/>
          </a:xfrm>
          <a:prstGeom prst="ellipse">
            <a:avLst/>
          </a:prstGeom>
          <a:solidFill>
            <a:srgbClr val="D4AF37"/>
          </a:solidFill>
          <a:ln/>
        </p:spPr>
      </p:sp>
      <p:sp>
        <p:nvSpPr>
          <p:cNvPr id="12" name="Text 10"/>
          <p:cNvSpPr/>
          <p:nvPr/>
        </p:nvSpPr>
        <p:spPr>
          <a:xfrm>
            <a:off x="5413248" y="932688"/>
            <a:ext cx="347472" cy="347472"/>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1</a:t>
            </a:r>
            <a:endParaRPr lang="en-US" sz="1100" dirty="0"/>
          </a:p>
        </p:txBody>
      </p:sp>
      <p:sp>
        <p:nvSpPr>
          <p:cNvPr id="13" name="Text 11"/>
          <p:cNvSpPr/>
          <p:nvPr/>
        </p:nvSpPr>
        <p:spPr>
          <a:xfrm>
            <a:off x="5833872" y="914400"/>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Loyd Ebenezer</a:t>
            </a:r>
            <a:endParaRPr lang="en-US" sz="1300" dirty="0"/>
          </a:p>
        </p:txBody>
      </p:sp>
      <p:sp>
        <p:nvSpPr>
          <p:cNvPr id="14" name="Text 12"/>
          <p:cNvSpPr/>
          <p:nvPr/>
        </p:nvSpPr>
        <p:spPr>
          <a:xfrm>
            <a:off x="5833872" y="1188720"/>
            <a:ext cx="2926080" cy="201168"/>
          </a:xfrm>
          <a:prstGeom prst="rect">
            <a:avLst/>
          </a:prstGeom>
          <a:noFill/>
          <a:ln/>
        </p:spPr>
        <p:txBody>
          <a:bodyPr wrap="square" lIns="0" tIns="0" rIns="0" bIns="0" rtlCol="0" anchor="ctr"/>
          <a:lstStyle/>
          <a:p>
            <a:pPr indent="0" marL="0">
              <a:buNone/>
            </a:pPr>
            <a:r>
              <a:rPr lang="en-US" sz="1050" i="1" dirty="0">
                <a:solidFill>
                  <a:srgbClr val="D4AF37"/>
                </a:solidFill>
                <a:latin typeface="Calibri" pitchFamily="34" charset="0"/>
                <a:ea typeface="Calibri" pitchFamily="34" charset="-122"/>
                <a:cs typeface="Calibri" pitchFamily="34" charset="-120"/>
              </a:rPr>
              <a:t>I72/1073/2024</a:t>
            </a:r>
            <a:endParaRPr lang="en-US" sz="1050" dirty="0"/>
          </a:p>
        </p:txBody>
      </p:sp>
      <p:sp>
        <p:nvSpPr>
          <p:cNvPr id="15" name="Shape 13"/>
          <p:cNvSpPr/>
          <p:nvPr/>
        </p:nvSpPr>
        <p:spPr>
          <a:xfrm>
            <a:off x="5440680" y="1517904"/>
            <a:ext cx="3291840" cy="0"/>
          </a:xfrm>
          <a:prstGeom prst="line">
            <a:avLst/>
          </a:prstGeom>
          <a:noFill/>
          <a:ln w="6350">
            <a:solidFill>
              <a:srgbClr val="2A2A2A"/>
            </a:solidFill>
            <a:prstDash val="solid"/>
          </a:ln>
        </p:spPr>
      </p:sp>
      <p:sp>
        <p:nvSpPr>
          <p:cNvPr id="16" name="Shape 14"/>
          <p:cNvSpPr/>
          <p:nvPr/>
        </p:nvSpPr>
        <p:spPr>
          <a:xfrm>
            <a:off x="5413248" y="1609344"/>
            <a:ext cx="347472" cy="347472"/>
          </a:xfrm>
          <a:prstGeom prst="ellipse">
            <a:avLst/>
          </a:prstGeom>
          <a:solidFill>
            <a:srgbClr val="D4AF37"/>
          </a:solidFill>
          <a:ln/>
        </p:spPr>
      </p:sp>
      <p:sp>
        <p:nvSpPr>
          <p:cNvPr id="17" name="Text 15"/>
          <p:cNvSpPr/>
          <p:nvPr/>
        </p:nvSpPr>
        <p:spPr>
          <a:xfrm>
            <a:off x="5413248" y="1609344"/>
            <a:ext cx="347472" cy="347472"/>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2</a:t>
            </a:r>
            <a:endParaRPr lang="en-US" sz="1100" dirty="0"/>
          </a:p>
        </p:txBody>
      </p:sp>
      <p:sp>
        <p:nvSpPr>
          <p:cNvPr id="18" name="Text 16"/>
          <p:cNvSpPr/>
          <p:nvPr/>
        </p:nvSpPr>
        <p:spPr>
          <a:xfrm>
            <a:off x="5833872" y="1591056"/>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Domnic Makori</a:t>
            </a:r>
            <a:endParaRPr lang="en-US" sz="1300" dirty="0"/>
          </a:p>
        </p:txBody>
      </p:sp>
      <p:sp>
        <p:nvSpPr>
          <p:cNvPr id="19" name="Text 17"/>
          <p:cNvSpPr/>
          <p:nvPr/>
        </p:nvSpPr>
        <p:spPr>
          <a:xfrm>
            <a:off x="5833872" y="1865376"/>
            <a:ext cx="2926080" cy="201168"/>
          </a:xfrm>
          <a:prstGeom prst="rect">
            <a:avLst/>
          </a:prstGeom>
          <a:noFill/>
          <a:ln/>
        </p:spPr>
        <p:txBody>
          <a:bodyPr wrap="square" lIns="0" tIns="0" rIns="0" bIns="0" rtlCol="0" anchor="ctr"/>
          <a:lstStyle/>
          <a:p>
            <a:pPr indent="0" marL="0">
              <a:buNone/>
            </a:pPr>
            <a:r>
              <a:rPr lang="en-US" sz="1050" i="1" dirty="0">
                <a:solidFill>
                  <a:srgbClr val="D4AF37"/>
                </a:solidFill>
                <a:latin typeface="Calibri" pitchFamily="34" charset="0"/>
                <a:ea typeface="Calibri" pitchFamily="34" charset="-122"/>
                <a:cs typeface="Calibri" pitchFamily="34" charset="-120"/>
              </a:rPr>
              <a:t>I72/1036/2024</a:t>
            </a:r>
            <a:endParaRPr lang="en-US" sz="1050" dirty="0"/>
          </a:p>
        </p:txBody>
      </p:sp>
      <p:sp>
        <p:nvSpPr>
          <p:cNvPr id="20" name="Shape 18"/>
          <p:cNvSpPr/>
          <p:nvPr/>
        </p:nvSpPr>
        <p:spPr>
          <a:xfrm>
            <a:off x="5440680" y="2194560"/>
            <a:ext cx="3291840" cy="0"/>
          </a:xfrm>
          <a:prstGeom prst="line">
            <a:avLst/>
          </a:prstGeom>
          <a:noFill/>
          <a:ln w="6350">
            <a:solidFill>
              <a:srgbClr val="2A2A2A"/>
            </a:solidFill>
            <a:prstDash val="solid"/>
          </a:ln>
        </p:spPr>
      </p:sp>
      <p:sp>
        <p:nvSpPr>
          <p:cNvPr id="21" name="Shape 19"/>
          <p:cNvSpPr/>
          <p:nvPr/>
        </p:nvSpPr>
        <p:spPr>
          <a:xfrm>
            <a:off x="5413248" y="2286000"/>
            <a:ext cx="347472" cy="347472"/>
          </a:xfrm>
          <a:prstGeom prst="ellipse">
            <a:avLst/>
          </a:prstGeom>
          <a:solidFill>
            <a:srgbClr val="D4AF37"/>
          </a:solidFill>
          <a:ln/>
        </p:spPr>
      </p:sp>
      <p:sp>
        <p:nvSpPr>
          <p:cNvPr id="22" name="Text 20"/>
          <p:cNvSpPr/>
          <p:nvPr/>
        </p:nvSpPr>
        <p:spPr>
          <a:xfrm>
            <a:off x="5413248" y="2286000"/>
            <a:ext cx="347472" cy="347472"/>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3</a:t>
            </a:r>
            <a:endParaRPr lang="en-US" sz="1100" dirty="0"/>
          </a:p>
        </p:txBody>
      </p:sp>
      <p:sp>
        <p:nvSpPr>
          <p:cNvPr id="23" name="Text 21"/>
          <p:cNvSpPr/>
          <p:nvPr/>
        </p:nvSpPr>
        <p:spPr>
          <a:xfrm>
            <a:off x="5833872" y="2267712"/>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Fardosa Abdullahi</a:t>
            </a:r>
            <a:endParaRPr lang="en-US" sz="1300" dirty="0"/>
          </a:p>
        </p:txBody>
      </p:sp>
      <p:sp>
        <p:nvSpPr>
          <p:cNvPr id="24" name="Text 22"/>
          <p:cNvSpPr/>
          <p:nvPr/>
        </p:nvSpPr>
        <p:spPr>
          <a:xfrm>
            <a:off x="5833872" y="2542032"/>
            <a:ext cx="2926080" cy="201168"/>
          </a:xfrm>
          <a:prstGeom prst="rect">
            <a:avLst/>
          </a:prstGeom>
          <a:noFill/>
          <a:ln/>
        </p:spPr>
        <p:txBody>
          <a:bodyPr wrap="square" lIns="0" tIns="0" rIns="0" bIns="0" rtlCol="0" anchor="ctr"/>
          <a:lstStyle/>
          <a:p>
            <a:pPr indent="0" marL="0">
              <a:buNone/>
            </a:pPr>
            <a:r>
              <a:rPr lang="en-US" sz="1050" i="1" dirty="0">
                <a:solidFill>
                  <a:srgbClr val="D4AF37"/>
                </a:solidFill>
                <a:latin typeface="Calibri" pitchFamily="34" charset="0"/>
                <a:ea typeface="Calibri" pitchFamily="34" charset="-122"/>
                <a:cs typeface="Calibri" pitchFamily="34" charset="-120"/>
              </a:rPr>
              <a:t>I72/8943/2024</a:t>
            </a:r>
            <a:endParaRPr lang="en-US" sz="1050" dirty="0"/>
          </a:p>
        </p:txBody>
      </p:sp>
      <p:sp>
        <p:nvSpPr>
          <p:cNvPr id="25" name="Shape 23"/>
          <p:cNvSpPr/>
          <p:nvPr/>
        </p:nvSpPr>
        <p:spPr>
          <a:xfrm>
            <a:off x="5440680" y="2871216"/>
            <a:ext cx="3291840" cy="0"/>
          </a:xfrm>
          <a:prstGeom prst="line">
            <a:avLst/>
          </a:prstGeom>
          <a:noFill/>
          <a:ln w="6350">
            <a:solidFill>
              <a:srgbClr val="2A2A2A"/>
            </a:solidFill>
            <a:prstDash val="solid"/>
          </a:ln>
        </p:spPr>
      </p:sp>
      <p:sp>
        <p:nvSpPr>
          <p:cNvPr id="26" name="Shape 24"/>
          <p:cNvSpPr/>
          <p:nvPr/>
        </p:nvSpPr>
        <p:spPr>
          <a:xfrm>
            <a:off x="5413248" y="2962656"/>
            <a:ext cx="347472" cy="347472"/>
          </a:xfrm>
          <a:prstGeom prst="ellipse">
            <a:avLst/>
          </a:prstGeom>
          <a:solidFill>
            <a:srgbClr val="D4AF37"/>
          </a:solidFill>
          <a:ln/>
        </p:spPr>
      </p:sp>
      <p:sp>
        <p:nvSpPr>
          <p:cNvPr id="27" name="Text 25"/>
          <p:cNvSpPr/>
          <p:nvPr/>
        </p:nvSpPr>
        <p:spPr>
          <a:xfrm>
            <a:off x="5413248" y="2962656"/>
            <a:ext cx="347472" cy="347472"/>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4</a:t>
            </a:r>
            <a:endParaRPr lang="en-US" sz="1100" dirty="0"/>
          </a:p>
        </p:txBody>
      </p:sp>
      <p:sp>
        <p:nvSpPr>
          <p:cNvPr id="28" name="Text 26"/>
          <p:cNvSpPr/>
          <p:nvPr/>
        </p:nvSpPr>
        <p:spPr>
          <a:xfrm>
            <a:off x="5833872" y="2944368"/>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Innocent Omondi</a:t>
            </a:r>
            <a:endParaRPr lang="en-US" sz="1300" dirty="0"/>
          </a:p>
        </p:txBody>
      </p:sp>
      <p:sp>
        <p:nvSpPr>
          <p:cNvPr id="29" name="Text 27"/>
          <p:cNvSpPr/>
          <p:nvPr/>
        </p:nvSpPr>
        <p:spPr>
          <a:xfrm>
            <a:off x="5833872" y="3218688"/>
            <a:ext cx="2926080" cy="201168"/>
          </a:xfrm>
          <a:prstGeom prst="rect">
            <a:avLst/>
          </a:prstGeom>
          <a:noFill/>
          <a:ln/>
        </p:spPr>
        <p:txBody>
          <a:bodyPr wrap="square" lIns="0" tIns="0" rIns="0" bIns="0" rtlCol="0" anchor="ctr"/>
          <a:lstStyle/>
          <a:p>
            <a:pPr indent="0" marL="0">
              <a:buNone/>
            </a:pPr>
            <a:r>
              <a:rPr lang="en-US" sz="1050" i="1" dirty="0">
                <a:solidFill>
                  <a:srgbClr val="D4AF37"/>
                </a:solidFill>
                <a:latin typeface="Calibri" pitchFamily="34" charset="0"/>
                <a:ea typeface="Calibri" pitchFamily="34" charset="-122"/>
                <a:cs typeface="Calibri" pitchFamily="34" charset="-120"/>
              </a:rPr>
              <a:t>I72/1064/2024</a:t>
            </a:r>
            <a:endParaRPr lang="en-US" sz="1050" dirty="0"/>
          </a:p>
        </p:txBody>
      </p:sp>
      <p:sp>
        <p:nvSpPr>
          <p:cNvPr id="30" name="Shape 28"/>
          <p:cNvSpPr/>
          <p:nvPr/>
        </p:nvSpPr>
        <p:spPr>
          <a:xfrm>
            <a:off x="5440680" y="3547872"/>
            <a:ext cx="3291840" cy="0"/>
          </a:xfrm>
          <a:prstGeom prst="line">
            <a:avLst/>
          </a:prstGeom>
          <a:noFill/>
          <a:ln w="6350">
            <a:solidFill>
              <a:srgbClr val="2A2A2A"/>
            </a:solidFill>
            <a:prstDash val="solid"/>
          </a:ln>
        </p:spPr>
      </p:sp>
      <p:sp>
        <p:nvSpPr>
          <p:cNvPr id="31" name="Shape 29"/>
          <p:cNvSpPr/>
          <p:nvPr/>
        </p:nvSpPr>
        <p:spPr>
          <a:xfrm>
            <a:off x="5413248" y="3639312"/>
            <a:ext cx="347472" cy="347472"/>
          </a:xfrm>
          <a:prstGeom prst="ellipse">
            <a:avLst/>
          </a:prstGeom>
          <a:solidFill>
            <a:srgbClr val="D4AF37"/>
          </a:solidFill>
          <a:ln/>
        </p:spPr>
      </p:sp>
      <p:sp>
        <p:nvSpPr>
          <p:cNvPr id="32" name="Text 30"/>
          <p:cNvSpPr/>
          <p:nvPr/>
        </p:nvSpPr>
        <p:spPr>
          <a:xfrm>
            <a:off x="5413248" y="3639312"/>
            <a:ext cx="347472" cy="347472"/>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5</a:t>
            </a:r>
            <a:endParaRPr lang="en-US" sz="1100" dirty="0"/>
          </a:p>
        </p:txBody>
      </p:sp>
      <p:sp>
        <p:nvSpPr>
          <p:cNvPr id="33" name="Text 31"/>
          <p:cNvSpPr/>
          <p:nvPr/>
        </p:nvSpPr>
        <p:spPr>
          <a:xfrm>
            <a:off x="5833872" y="3621024"/>
            <a:ext cx="29260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Wandera Bwire</a:t>
            </a:r>
            <a:endParaRPr lang="en-US" sz="1300" dirty="0"/>
          </a:p>
        </p:txBody>
      </p:sp>
      <p:sp>
        <p:nvSpPr>
          <p:cNvPr id="34" name="Text 32"/>
          <p:cNvSpPr/>
          <p:nvPr/>
        </p:nvSpPr>
        <p:spPr>
          <a:xfrm>
            <a:off x="5833872" y="3895344"/>
            <a:ext cx="2926080" cy="201168"/>
          </a:xfrm>
          <a:prstGeom prst="rect">
            <a:avLst/>
          </a:prstGeom>
          <a:noFill/>
          <a:ln/>
        </p:spPr>
        <p:txBody>
          <a:bodyPr wrap="square" lIns="0" tIns="0" rIns="0" bIns="0" rtlCol="0" anchor="ctr"/>
          <a:lstStyle/>
          <a:p>
            <a:pPr indent="0" marL="0">
              <a:buNone/>
            </a:pPr>
            <a:r>
              <a:rPr lang="en-US" sz="1050" i="1" dirty="0">
                <a:solidFill>
                  <a:srgbClr val="D4AF37"/>
                </a:solidFill>
                <a:latin typeface="Calibri" pitchFamily="34" charset="0"/>
                <a:ea typeface="Calibri" pitchFamily="34" charset="-122"/>
                <a:cs typeface="Calibri" pitchFamily="34" charset="-120"/>
              </a:rPr>
              <a:t>I72/5875/2023</a:t>
            </a:r>
            <a:endParaRPr lang="en-US" sz="1050" dirty="0"/>
          </a:p>
        </p:txBody>
      </p:sp>
      <p:sp>
        <p:nvSpPr>
          <p:cNvPr id="35" name="Text 33"/>
          <p:cNvSpPr/>
          <p:nvPr/>
        </p:nvSpPr>
        <p:spPr>
          <a:xfrm>
            <a:off x="274320" y="4480560"/>
            <a:ext cx="8595360" cy="662940"/>
          </a:xfrm>
          <a:prstGeom prst="rect">
            <a:avLst/>
          </a:prstGeom>
          <a:noFill/>
          <a:ln/>
        </p:spPr>
        <p:txBody>
          <a:bodyPr wrap="square" lIns="0" tIns="0" rIns="0" bIns="0" rtlCol="0" anchor="ctr"/>
          <a:lstStyle/>
          <a:p>
            <a:pPr algn="ctr" indent="0" marL="0">
              <a:buNone/>
            </a:pPr>
            <a:r>
              <a:rPr lang="en-US" sz="1200" b="1" dirty="0">
                <a:solidFill>
                  <a:srgbClr val="0A0A0A"/>
                </a:solidFill>
                <a:latin typeface="Calibri" pitchFamily="34" charset="0"/>
                <a:ea typeface="Calibri" pitchFamily="34" charset="-122"/>
                <a:cs typeface="Calibri" pitchFamily="34" charset="-120"/>
              </a:rPr>
              <a:t>SBC 294 · Fundamentals of Biotechnology  |  Group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4AF37"/>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0A0A0A"/>
                </a:solidFill>
                <a:latin typeface="Arial Black" pitchFamily="34" charset="0"/>
                <a:ea typeface="Arial Black" pitchFamily="34" charset="-122"/>
                <a:cs typeface="Arial Black" pitchFamily="34" charset="-120"/>
              </a:rPr>
              <a:t>PRESENTATION OUTLINE</a:t>
            </a:r>
            <a:endParaRPr lang="en-US" sz="2000" dirty="0"/>
          </a:p>
        </p:txBody>
      </p:sp>
      <p:sp>
        <p:nvSpPr>
          <p:cNvPr id="4" name="Text 2"/>
          <p:cNvSpPr/>
          <p:nvPr/>
        </p:nvSpPr>
        <p:spPr>
          <a:xfrm>
            <a:off x="320040" y="749808"/>
            <a:ext cx="8503920" cy="457200"/>
          </a:xfrm>
          <a:prstGeom prst="rect">
            <a:avLst/>
          </a:prstGeom>
          <a:noFill/>
          <a:ln/>
        </p:spPr>
        <p:txBody>
          <a:bodyPr wrap="square" lIns="0" tIns="0" rIns="0" bIns="0" rtlCol="0" anchor="ctr"/>
          <a:lstStyle/>
          <a:p>
            <a:pPr indent="0" marL="0">
              <a:buNone/>
            </a:pPr>
            <a:r>
              <a:rPr lang="en-US" sz="1150" i="1" dirty="0">
                <a:solidFill>
                  <a:srgbClr val="CCCCCC"/>
                </a:solidFill>
                <a:latin typeface="Calibri" pitchFamily="34" charset="0"/>
                <a:ea typeface="Calibri" pitchFamily="34" charset="-122"/>
                <a:cs typeface="Calibri" pitchFamily="34" charset="-120"/>
              </a:rPr>
              <a:t>This presentation is structured around the five required headings of the SBC 294 group assignment. Each section covers a distinct dimension of Black Biotechnology.</a:t>
            </a:r>
            <a:endParaRPr lang="en-US" sz="1150" dirty="0"/>
          </a:p>
        </p:txBody>
      </p:sp>
      <p:sp>
        <p:nvSpPr>
          <p:cNvPr id="5" name="Shape 3"/>
          <p:cNvSpPr/>
          <p:nvPr/>
        </p:nvSpPr>
        <p:spPr>
          <a:xfrm>
            <a:off x="274320" y="1298448"/>
            <a:ext cx="594360" cy="548640"/>
          </a:xfrm>
          <a:prstGeom prst="rect">
            <a:avLst/>
          </a:prstGeom>
          <a:solidFill>
            <a:srgbClr val="D4AF37"/>
          </a:solidFill>
          <a:ln/>
        </p:spPr>
      </p:sp>
      <p:sp>
        <p:nvSpPr>
          <p:cNvPr id="6" name="Text 4"/>
          <p:cNvSpPr/>
          <p:nvPr/>
        </p:nvSpPr>
        <p:spPr>
          <a:xfrm>
            <a:off x="274320" y="1298448"/>
            <a:ext cx="594360" cy="548640"/>
          </a:xfrm>
          <a:prstGeom prst="rect">
            <a:avLst/>
          </a:prstGeom>
          <a:noFill/>
          <a:ln/>
        </p:spPr>
        <p:txBody>
          <a:bodyPr wrap="square" lIns="0" tIns="0" rIns="0" bIns="0" rtlCol="0" anchor="ctr"/>
          <a:lstStyle/>
          <a:p>
            <a:pPr algn="ctr" indent="0" marL="0">
              <a:buNone/>
            </a:pPr>
            <a:r>
              <a:rPr lang="en-US" sz="1300" b="1" dirty="0">
                <a:solidFill>
                  <a:srgbClr val="0A0A0A"/>
                </a:solidFill>
                <a:latin typeface="Arial Black" pitchFamily="34" charset="0"/>
                <a:ea typeface="Arial Black" pitchFamily="34" charset="-122"/>
                <a:cs typeface="Arial Black" pitchFamily="34" charset="-120"/>
              </a:rPr>
              <a:t>01</a:t>
            </a:r>
            <a:endParaRPr lang="en-US" sz="1300" dirty="0"/>
          </a:p>
        </p:txBody>
      </p:sp>
      <p:sp>
        <p:nvSpPr>
          <p:cNvPr id="7" name="Shape 5"/>
          <p:cNvSpPr/>
          <p:nvPr/>
        </p:nvSpPr>
        <p:spPr>
          <a:xfrm>
            <a:off x="1005840" y="1298448"/>
            <a:ext cx="7818120" cy="548640"/>
          </a:xfrm>
          <a:prstGeom prst="rect">
            <a:avLst/>
          </a:prstGeom>
          <a:solidFill>
            <a:srgbClr val="111122"/>
          </a:solidFill>
          <a:ln/>
        </p:spPr>
      </p:sp>
      <p:sp>
        <p:nvSpPr>
          <p:cNvPr id="8" name="Text 6"/>
          <p:cNvSpPr/>
          <p:nvPr/>
        </p:nvSpPr>
        <p:spPr>
          <a:xfrm>
            <a:off x="1143000" y="1335024"/>
            <a:ext cx="2011680" cy="22860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Meaning</a:t>
            </a:r>
            <a:endParaRPr lang="en-US" sz="1300" dirty="0"/>
          </a:p>
        </p:txBody>
      </p:sp>
      <p:sp>
        <p:nvSpPr>
          <p:cNvPr id="9" name="Text 7"/>
          <p:cNvSpPr/>
          <p:nvPr/>
        </p:nvSpPr>
        <p:spPr>
          <a:xfrm>
            <a:off x="1143000" y="1581912"/>
            <a:ext cx="7498080" cy="201168"/>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What is Black Biotechnology? Definition, scope and classification within the broader colour-coded biotechnology framework.</a:t>
            </a:r>
            <a:endParaRPr lang="en-US" sz="1050" dirty="0"/>
          </a:p>
        </p:txBody>
      </p:sp>
      <p:sp>
        <p:nvSpPr>
          <p:cNvPr id="10" name="Shape 8"/>
          <p:cNvSpPr/>
          <p:nvPr/>
        </p:nvSpPr>
        <p:spPr>
          <a:xfrm>
            <a:off x="274320" y="2048256"/>
            <a:ext cx="594360" cy="548640"/>
          </a:xfrm>
          <a:prstGeom prst="rect">
            <a:avLst/>
          </a:prstGeom>
          <a:solidFill>
            <a:srgbClr val="D4AF37"/>
          </a:solidFill>
          <a:ln/>
        </p:spPr>
      </p:sp>
      <p:sp>
        <p:nvSpPr>
          <p:cNvPr id="11" name="Text 9"/>
          <p:cNvSpPr/>
          <p:nvPr/>
        </p:nvSpPr>
        <p:spPr>
          <a:xfrm>
            <a:off x="274320" y="2048256"/>
            <a:ext cx="594360" cy="548640"/>
          </a:xfrm>
          <a:prstGeom prst="rect">
            <a:avLst/>
          </a:prstGeom>
          <a:noFill/>
          <a:ln/>
        </p:spPr>
        <p:txBody>
          <a:bodyPr wrap="square" lIns="0" tIns="0" rIns="0" bIns="0" rtlCol="0" anchor="ctr"/>
          <a:lstStyle/>
          <a:p>
            <a:pPr algn="ctr" indent="0" marL="0">
              <a:buNone/>
            </a:pPr>
            <a:r>
              <a:rPr lang="en-US" sz="1300" b="1" dirty="0">
                <a:solidFill>
                  <a:srgbClr val="0A0A0A"/>
                </a:solidFill>
                <a:latin typeface="Arial Black" pitchFamily="34" charset="0"/>
                <a:ea typeface="Arial Black" pitchFamily="34" charset="-122"/>
                <a:cs typeface="Arial Black" pitchFamily="34" charset="-120"/>
              </a:rPr>
              <a:t>02</a:t>
            </a:r>
            <a:endParaRPr lang="en-US" sz="1300" dirty="0"/>
          </a:p>
        </p:txBody>
      </p:sp>
      <p:sp>
        <p:nvSpPr>
          <p:cNvPr id="12" name="Shape 10"/>
          <p:cNvSpPr/>
          <p:nvPr/>
        </p:nvSpPr>
        <p:spPr>
          <a:xfrm>
            <a:off x="1005840" y="2048256"/>
            <a:ext cx="7818120" cy="548640"/>
          </a:xfrm>
          <a:prstGeom prst="rect">
            <a:avLst/>
          </a:prstGeom>
          <a:solidFill>
            <a:srgbClr val="111122"/>
          </a:solidFill>
          <a:ln/>
        </p:spPr>
      </p:sp>
      <p:sp>
        <p:nvSpPr>
          <p:cNvPr id="13" name="Text 11"/>
          <p:cNvSpPr/>
          <p:nvPr/>
        </p:nvSpPr>
        <p:spPr>
          <a:xfrm>
            <a:off x="1143000" y="2084832"/>
            <a:ext cx="2011680" cy="22860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Objectives</a:t>
            </a:r>
            <a:endParaRPr lang="en-US" sz="1300" dirty="0"/>
          </a:p>
        </p:txBody>
      </p:sp>
      <p:sp>
        <p:nvSpPr>
          <p:cNvPr id="14" name="Text 12"/>
          <p:cNvSpPr/>
          <p:nvPr/>
        </p:nvSpPr>
        <p:spPr>
          <a:xfrm>
            <a:off x="1143000" y="2331720"/>
            <a:ext cx="7498080" cy="201168"/>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The primary scientific, security and strategic goals that drive research and innovation in this field.</a:t>
            </a:r>
            <a:endParaRPr lang="en-US" sz="1050" dirty="0"/>
          </a:p>
        </p:txBody>
      </p:sp>
      <p:sp>
        <p:nvSpPr>
          <p:cNvPr id="15" name="Shape 13"/>
          <p:cNvSpPr/>
          <p:nvPr/>
        </p:nvSpPr>
        <p:spPr>
          <a:xfrm>
            <a:off x="274320" y="2798064"/>
            <a:ext cx="594360" cy="548640"/>
          </a:xfrm>
          <a:prstGeom prst="rect">
            <a:avLst/>
          </a:prstGeom>
          <a:solidFill>
            <a:srgbClr val="D4AF37"/>
          </a:solidFill>
          <a:ln/>
        </p:spPr>
      </p:sp>
      <p:sp>
        <p:nvSpPr>
          <p:cNvPr id="16" name="Text 14"/>
          <p:cNvSpPr/>
          <p:nvPr/>
        </p:nvSpPr>
        <p:spPr>
          <a:xfrm>
            <a:off x="274320" y="2798064"/>
            <a:ext cx="594360" cy="548640"/>
          </a:xfrm>
          <a:prstGeom prst="rect">
            <a:avLst/>
          </a:prstGeom>
          <a:noFill/>
          <a:ln/>
        </p:spPr>
        <p:txBody>
          <a:bodyPr wrap="square" lIns="0" tIns="0" rIns="0" bIns="0" rtlCol="0" anchor="ctr"/>
          <a:lstStyle/>
          <a:p>
            <a:pPr algn="ctr" indent="0" marL="0">
              <a:buNone/>
            </a:pPr>
            <a:r>
              <a:rPr lang="en-US" sz="1300" b="1" dirty="0">
                <a:solidFill>
                  <a:srgbClr val="0A0A0A"/>
                </a:solidFill>
                <a:latin typeface="Arial Black" pitchFamily="34" charset="0"/>
                <a:ea typeface="Arial Black" pitchFamily="34" charset="-122"/>
                <a:cs typeface="Arial Black" pitchFamily="34" charset="-120"/>
              </a:rPr>
              <a:t>03</a:t>
            </a:r>
            <a:endParaRPr lang="en-US" sz="1300" dirty="0"/>
          </a:p>
        </p:txBody>
      </p:sp>
      <p:sp>
        <p:nvSpPr>
          <p:cNvPr id="17" name="Shape 15"/>
          <p:cNvSpPr/>
          <p:nvPr/>
        </p:nvSpPr>
        <p:spPr>
          <a:xfrm>
            <a:off x="1005840" y="2798064"/>
            <a:ext cx="7818120" cy="548640"/>
          </a:xfrm>
          <a:prstGeom prst="rect">
            <a:avLst/>
          </a:prstGeom>
          <a:solidFill>
            <a:srgbClr val="111122"/>
          </a:solidFill>
          <a:ln/>
        </p:spPr>
      </p:sp>
      <p:sp>
        <p:nvSpPr>
          <p:cNvPr id="18" name="Text 16"/>
          <p:cNvSpPr/>
          <p:nvPr/>
        </p:nvSpPr>
        <p:spPr>
          <a:xfrm>
            <a:off x="1143000" y="2834640"/>
            <a:ext cx="2011680" cy="22860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Current Applications</a:t>
            </a:r>
            <a:endParaRPr lang="en-US" sz="1300" dirty="0"/>
          </a:p>
        </p:txBody>
      </p:sp>
      <p:sp>
        <p:nvSpPr>
          <p:cNvPr id="19" name="Text 17"/>
          <p:cNvSpPr/>
          <p:nvPr/>
        </p:nvSpPr>
        <p:spPr>
          <a:xfrm>
            <a:off x="1143000" y="3081528"/>
            <a:ext cx="7498080" cy="201168"/>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Real-world biotech products and technologies in active use, and how they benefit humanity today.</a:t>
            </a:r>
            <a:endParaRPr lang="en-US" sz="1050" dirty="0"/>
          </a:p>
        </p:txBody>
      </p:sp>
      <p:sp>
        <p:nvSpPr>
          <p:cNvPr id="20" name="Shape 18"/>
          <p:cNvSpPr/>
          <p:nvPr/>
        </p:nvSpPr>
        <p:spPr>
          <a:xfrm>
            <a:off x="274320" y="3547872"/>
            <a:ext cx="594360" cy="548640"/>
          </a:xfrm>
          <a:prstGeom prst="rect">
            <a:avLst/>
          </a:prstGeom>
          <a:solidFill>
            <a:srgbClr val="D4AF37"/>
          </a:solidFill>
          <a:ln/>
        </p:spPr>
      </p:sp>
      <p:sp>
        <p:nvSpPr>
          <p:cNvPr id="21" name="Text 19"/>
          <p:cNvSpPr/>
          <p:nvPr/>
        </p:nvSpPr>
        <p:spPr>
          <a:xfrm>
            <a:off x="274320" y="3547872"/>
            <a:ext cx="594360" cy="548640"/>
          </a:xfrm>
          <a:prstGeom prst="rect">
            <a:avLst/>
          </a:prstGeom>
          <a:noFill/>
          <a:ln/>
        </p:spPr>
        <p:txBody>
          <a:bodyPr wrap="square" lIns="0" tIns="0" rIns="0" bIns="0" rtlCol="0" anchor="ctr"/>
          <a:lstStyle/>
          <a:p>
            <a:pPr algn="ctr" indent="0" marL="0">
              <a:buNone/>
            </a:pPr>
            <a:r>
              <a:rPr lang="en-US" sz="1300" b="1" dirty="0">
                <a:solidFill>
                  <a:srgbClr val="0A0A0A"/>
                </a:solidFill>
                <a:latin typeface="Arial Black" pitchFamily="34" charset="0"/>
                <a:ea typeface="Arial Black" pitchFamily="34" charset="-122"/>
                <a:cs typeface="Arial Black" pitchFamily="34" charset="-120"/>
              </a:rPr>
              <a:t>04</a:t>
            </a:r>
            <a:endParaRPr lang="en-US" sz="1300" dirty="0"/>
          </a:p>
        </p:txBody>
      </p:sp>
      <p:sp>
        <p:nvSpPr>
          <p:cNvPr id="22" name="Shape 20"/>
          <p:cNvSpPr/>
          <p:nvPr/>
        </p:nvSpPr>
        <p:spPr>
          <a:xfrm>
            <a:off x="1005840" y="3547872"/>
            <a:ext cx="7818120" cy="548640"/>
          </a:xfrm>
          <a:prstGeom prst="rect">
            <a:avLst/>
          </a:prstGeom>
          <a:solidFill>
            <a:srgbClr val="111122"/>
          </a:solidFill>
          <a:ln/>
        </p:spPr>
      </p:sp>
      <p:sp>
        <p:nvSpPr>
          <p:cNvPr id="23" name="Text 21"/>
          <p:cNvSpPr/>
          <p:nvPr/>
        </p:nvSpPr>
        <p:spPr>
          <a:xfrm>
            <a:off x="1143000" y="3584448"/>
            <a:ext cx="2011680" cy="22860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Future Prospects</a:t>
            </a:r>
            <a:endParaRPr lang="en-US" sz="1300" dirty="0"/>
          </a:p>
        </p:txBody>
      </p:sp>
      <p:sp>
        <p:nvSpPr>
          <p:cNvPr id="24" name="Text 22"/>
          <p:cNvSpPr/>
          <p:nvPr/>
        </p:nvSpPr>
        <p:spPr>
          <a:xfrm>
            <a:off x="1143000" y="3831336"/>
            <a:ext cx="7498080" cy="201168"/>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Emerging directions — from CRISPR biodefence to AI-driven pathogen surveillance — shaping the next decade.</a:t>
            </a:r>
            <a:endParaRPr lang="en-US" sz="1050" dirty="0"/>
          </a:p>
        </p:txBody>
      </p:sp>
      <p:sp>
        <p:nvSpPr>
          <p:cNvPr id="25" name="Shape 23"/>
          <p:cNvSpPr/>
          <p:nvPr/>
        </p:nvSpPr>
        <p:spPr>
          <a:xfrm>
            <a:off x="274320" y="4297680"/>
            <a:ext cx="594360" cy="548640"/>
          </a:xfrm>
          <a:prstGeom prst="rect">
            <a:avLst/>
          </a:prstGeom>
          <a:solidFill>
            <a:srgbClr val="D4AF37"/>
          </a:solidFill>
          <a:ln/>
        </p:spPr>
      </p:sp>
      <p:sp>
        <p:nvSpPr>
          <p:cNvPr id="26" name="Text 24"/>
          <p:cNvSpPr/>
          <p:nvPr/>
        </p:nvSpPr>
        <p:spPr>
          <a:xfrm>
            <a:off x="274320" y="4297680"/>
            <a:ext cx="594360" cy="548640"/>
          </a:xfrm>
          <a:prstGeom prst="rect">
            <a:avLst/>
          </a:prstGeom>
          <a:noFill/>
          <a:ln/>
        </p:spPr>
        <p:txBody>
          <a:bodyPr wrap="square" lIns="0" tIns="0" rIns="0" bIns="0" rtlCol="0" anchor="ctr"/>
          <a:lstStyle/>
          <a:p>
            <a:pPr algn="ctr" indent="0" marL="0">
              <a:buNone/>
            </a:pPr>
            <a:r>
              <a:rPr lang="en-US" sz="1300" b="1" dirty="0">
                <a:solidFill>
                  <a:srgbClr val="0A0A0A"/>
                </a:solidFill>
                <a:latin typeface="Arial Black" pitchFamily="34" charset="0"/>
                <a:ea typeface="Arial Black" pitchFamily="34" charset="-122"/>
                <a:cs typeface="Arial Black" pitchFamily="34" charset="-120"/>
              </a:rPr>
              <a:t>05</a:t>
            </a:r>
            <a:endParaRPr lang="en-US" sz="1300" dirty="0"/>
          </a:p>
        </p:txBody>
      </p:sp>
      <p:sp>
        <p:nvSpPr>
          <p:cNvPr id="27" name="Shape 25"/>
          <p:cNvSpPr/>
          <p:nvPr/>
        </p:nvSpPr>
        <p:spPr>
          <a:xfrm>
            <a:off x="1005840" y="4297680"/>
            <a:ext cx="7818120" cy="548640"/>
          </a:xfrm>
          <a:prstGeom prst="rect">
            <a:avLst/>
          </a:prstGeom>
          <a:solidFill>
            <a:srgbClr val="111122"/>
          </a:solidFill>
          <a:ln/>
        </p:spPr>
      </p:sp>
      <p:sp>
        <p:nvSpPr>
          <p:cNvPr id="28" name="Text 26"/>
          <p:cNvSpPr/>
          <p:nvPr/>
        </p:nvSpPr>
        <p:spPr>
          <a:xfrm>
            <a:off x="1143000" y="4334256"/>
            <a:ext cx="2011680" cy="22860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Concerns</a:t>
            </a:r>
            <a:endParaRPr lang="en-US" sz="1300" dirty="0"/>
          </a:p>
        </p:txBody>
      </p:sp>
      <p:sp>
        <p:nvSpPr>
          <p:cNvPr id="29" name="Text 27"/>
          <p:cNvSpPr/>
          <p:nvPr/>
        </p:nvSpPr>
        <p:spPr>
          <a:xfrm>
            <a:off x="1143000" y="4581144"/>
            <a:ext cx="7498080" cy="201168"/>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Critical socioeconomic, environmental and ethical challenges that must be addressed as the field advances.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22222"/>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D4AF37"/>
                </a:solidFill>
                <a:latin typeface="Arial Black" pitchFamily="34" charset="0"/>
                <a:ea typeface="Arial Black" pitchFamily="34" charset="-122"/>
                <a:cs typeface="Arial Black" pitchFamily="34" charset="-120"/>
              </a:rPr>
              <a:t>01 · MEANING — What is Black Biotechnology?</a:t>
            </a:r>
            <a:endParaRPr lang="en-US" sz="2000" dirty="0"/>
          </a:p>
        </p:txBody>
      </p:sp>
      <p:sp>
        <p:nvSpPr>
          <p:cNvPr id="4" name="Text 2"/>
          <p:cNvSpPr/>
          <p:nvPr/>
        </p:nvSpPr>
        <p:spPr>
          <a:xfrm>
            <a:off x="274320" y="749808"/>
            <a:ext cx="8595360" cy="777240"/>
          </a:xfrm>
          <a:prstGeom prst="rect">
            <a:avLst/>
          </a:prstGeom>
          <a:noFill/>
          <a:ln/>
        </p:spPr>
        <p:txBody>
          <a:bodyPr wrap="square" lIns="0" tIns="0" rIns="0" bIns="0" rtlCol="0" anchor="ctr"/>
          <a:lstStyle/>
          <a:p>
            <a:pPr indent="0" marL="0">
              <a:buNone/>
            </a:pPr>
            <a:r>
              <a:rPr lang="en-US" sz="1150" dirty="0">
                <a:solidFill>
                  <a:srgbClr val="333333"/>
                </a:solidFill>
                <a:latin typeface="Calibri" pitchFamily="34" charset="0"/>
                <a:ea typeface="Calibri" pitchFamily="34" charset="-122"/>
                <a:cs typeface="Calibri" pitchFamily="34" charset="-120"/>
              </a:rPr>
              <a:t>Black Biotechnology is one of several colour-coded categories used to classify areas of biotechnology by application. It refers specifically to the use of biological knowledge and tools in military, defence and biosecurity contexts. The term captures a range of activities — from developing vaccines against weaponised pathogens, to building rapid-detection systems for bioterrorism threats, to studying extremophilic organisms that survive in harsh or hazardous environments.</a:t>
            </a:r>
            <a:endParaRPr lang="en-US" sz="1150" dirty="0"/>
          </a:p>
        </p:txBody>
      </p:sp>
      <p:sp>
        <p:nvSpPr>
          <p:cNvPr id="5" name="Shape 3"/>
          <p:cNvSpPr/>
          <p:nvPr/>
        </p:nvSpPr>
        <p:spPr>
          <a:xfrm>
            <a:off x="274320" y="1618488"/>
            <a:ext cx="4160520" cy="1645920"/>
          </a:xfrm>
          <a:prstGeom prst="rect">
            <a:avLst/>
          </a:prstGeom>
          <a:solidFill>
            <a:srgbClr val="0A0A0A"/>
          </a:solidFill>
          <a:ln/>
        </p:spPr>
      </p:sp>
      <p:sp>
        <p:nvSpPr>
          <p:cNvPr id="6" name="Shape 4"/>
          <p:cNvSpPr/>
          <p:nvPr/>
        </p:nvSpPr>
        <p:spPr>
          <a:xfrm>
            <a:off x="274320" y="1618488"/>
            <a:ext cx="4160520" cy="73152"/>
          </a:xfrm>
          <a:prstGeom prst="rect">
            <a:avLst/>
          </a:prstGeom>
          <a:solidFill>
            <a:srgbClr val="D4AF37"/>
          </a:solidFill>
          <a:ln/>
        </p:spPr>
      </p:sp>
      <p:sp>
        <p:nvSpPr>
          <p:cNvPr id="7" name="Text 5"/>
          <p:cNvSpPr/>
          <p:nvPr/>
        </p:nvSpPr>
        <p:spPr>
          <a:xfrm>
            <a:off x="411480" y="1691640"/>
            <a:ext cx="3840480" cy="27432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Core Definition</a:t>
            </a:r>
            <a:endParaRPr lang="en-US" sz="1300" dirty="0"/>
          </a:p>
        </p:txBody>
      </p:sp>
      <p:sp>
        <p:nvSpPr>
          <p:cNvPr id="8" name="Text 6"/>
          <p:cNvSpPr/>
          <p:nvPr/>
        </p:nvSpPr>
        <p:spPr>
          <a:xfrm>
            <a:off x="411480" y="1993392"/>
            <a:ext cx="3886200" cy="1188720"/>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Black Biotechnology applies biotechnological tools and techniques for military, defence, and biosecurity purposes — including development of biological agents, biodetection systems, biodefence strategies, and countermeasures against biological threats.</a:t>
            </a:r>
            <a:endParaRPr lang="en-US" sz="1050" dirty="0"/>
          </a:p>
        </p:txBody>
      </p:sp>
      <p:sp>
        <p:nvSpPr>
          <p:cNvPr id="9" name="Shape 7"/>
          <p:cNvSpPr/>
          <p:nvPr/>
        </p:nvSpPr>
        <p:spPr>
          <a:xfrm>
            <a:off x="4709160" y="1618488"/>
            <a:ext cx="4160520" cy="1645920"/>
          </a:xfrm>
          <a:prstGeom prst="rect">
            <a:avLst/>
          </a:prstGeom>
          <a:solidFill>
            <a:srgbClr val="0F0F22"/>
          </a:solidFill>
          <a:ln/>
        </p:spPr>
      </p:sp>
      <p:sp>
        <p:nvSpPr>
          <p:cNvPr id="10" name="Shape 8"/>
          <p:cNvSpPr/>
          <p:nvPr/>
        </p:nvSpPr>
        <p:spPr>
          <a:xfrm>
            <a:off x="4709160" y="1618488"/>
            <a:ext cx="4160520" cy="73152"/>
          </a:xfrm>
          <a:prstGeom prst="rect">
            <a:avLst/>
          </a:prstGeom>
          <a:solidFill>
            <a:srgbClr val="D4AF37"/>
          </a:solidFill>
          <a:ln/>
        </p:spPr>
      </p:sp>
      <p:sp>
        <p:nvSpPr>
          <p:cNvPr id="11" name="Text 9"/>
          <p:cNvSpPr/>
          <p:nvPr/>
        </p:nvSpPr>
        <p:spPr>
          <a:xfrm>
            <a:off x="4846320" y="1691640"/>
            <a:ext cx="3840480" cy="274320"/>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Broader Scope</a:t>
            </a:r>
            <a:endParaRPr lang="en-US" sz="1300" dirty="0"/>
          </a:p>
        </p:txBody>
      </p:sp>
      <p:sp>
        <p:nvSpPr>
          <p:cNvPr id="12" name="Text 10"/>
          <p:cNvSpPr/>
          <p:nvPr/>
        </p:nvSpPr>
        <p:spPr>
          <a:xfrm>
            <a:off x="4846320" y="1993392"/>
            <a:ext cx="3886200" cy="1188720"/>
          </a:xfrm>
          <a:prstGeom prst="rect">
            <a:avLst/>
          </a:prstGeom>
          <a:noFill/>
          <a:ln/>
        </p:spPr>
        <p:txBody>
          <a:bodyPr wrap="square" lIns="0" tIns="0" rIns="0" bIns="0" rtlCol="0" anchor="ctr"/>
          <a:lstStyle/>
          <a:p>
            <a:pPr indent="0" marL="0">
              <a:buNone/>
            </a:pPr>
            <a:r>
              <a:rPr lang="en-US" sz="1050" dirty="0">
                <a:solidFill>
                  <a:srgbClr val="CCCCCC"/>
                </a:solidFill>
                <a:latin typeface="Calibri" pitchFamily="34" charset="0"/>
                <a:ea typeface="Calibri" pitchFamily="34" charset="-122"/>
                <a:cs typeface="Calibri" pitchFamily="34" charset="-120"/>
              </a:rPr>
              <a:t>In colour-coded classification systems, it also encompasses industrial-scale hazardous bioprocesses: bioweapons research (now banned), biosafety containment science, extremophile biotechnology (organisms thriving under extreme conditions), and carbon-based nanomaterials.</a:t>
            </a:r>
            <a:endParaRPr lang="en-US" sz="1050" dirty="0"/>
          </a:p>
        </p:txBody>
      </p:sp>
      <p:sp>
        <p:nvSpPr>
          <p:cNvPr id="13" name="Shape 11"/>
          <p:cNvSpPr/>
          <p:nvPr/>
        </p:nvSpPr>
        <p:spPr>
          <a:xfrm>
            <a:off x="274320" y="3355848"/>
            <a:ext cx="8595360" cy="1508760"/>
          </a:xfrm>
          <a:prstGeom prst="rect">
            <a:avLst/>
          </a:prstGeom>
          <a:solidFill>
            <a:srgbClr val="FFFBEA"/>
          </a:solidFill>
          <a:ln w="12700">
            <a:solidFill>
              <a:srgbClr val="D4AF37"/>
            </a:solidFill>
            <a:prstDash val="solid"/>
          </a:ln>
        </p:spPr>
      </p:sp>
      <p:sp>
        <p:nvSpPr>
          <p:cNvPr id="14" name="Text 12"/>
          <p:cNvSpPr/>
          <p:nvPr/>
        </p:nvSpPr>
        <p:spPr>
          <a:xfrm>
            <a:off x="457200" y="3419856"/>
            <a:ext cx="8229600" cy="274320"/>
          </a:xfrm>
          <a:prstGeom prst="rect">
            <a:avLst/>
          </a:prstGeom>
          <a:noFill/>
          <a:ln/>
        </p:spPr>
        <p:txBody>
          <a:bodyPr wrap="square" lIns="0" tIns="0" rIns="0" bIns="0" rtlCol="0" anchor="ctr"/>
          <a:lstStyle/>
          <a:p>
            <a:pPr indent="0" marL="0">
              <a:buNone/>
            </a:pPr>
            <a:r>
              <a:rPr lang="en-US" sz="1300" b="1" dirty="0">
                <a:solidFill>
                  <a:srgbClr val="8B6914"/>
                </a:solidFill>
                <a:latin typeface="Calibri" pitchFamily="34" charset="0"/>
                <a:ea typeface="Calibri" pitchFamily="34" charset="-122"/>
                <a:cs typeface="Calibri" pitchFamily="34" charset="-120"/>
              </a:rPr>
              <a:t>Key Distinction</a:t>
            </a:r>
            <a:endParaRPr lang="en-US" sz="1300" dirty="0"/>
          </a:p>
        </p:txBody>
      </p:sp>
      <p:sp>
        <p:nvSpPr>
          <p:cNvPr id="15" name="Text 13"/>
          <p:cNvSpPr/>
          <p:nvPr/>
        </p:nvSpPr>
        <p:spPr>
          <a:xfrm>
            <a:off x="457200" y="3749040"/>
            <a:ext cx="8229600" cy="1051560"/>
          </a:xfrm>
          <a:prstGeom prst="rect">
            <a:avLst/>
          </a:prstGeom>
          <a:noFill/>
          <a:ln/>
        </p:spPr>
        <p:txBody>
          <a:bodyPr wrap="square" lIns="0" tIns="0" rIns="0" bIns="0" rtlCol="0" anchor="ctr"/>
          <a:lstStyle/>
          <a:p>
            <a:pPr indent="0" marL="0">
              <a:buNone/>
            </a:pPr>
            <a:r>
              <a:rPr lang="en-US" sz="1100" dirty="0">
                <a:solidFill>
                  <a:srgbClr val="555555"/>
                </a:solidFill>
                <a:latin typeface="Calibri" pitchFamily="34" charset="0"/>
                <a:ea typeface="Calibri" pitchFamily="34" charset="-122"/>
                <a:cs typeface="Calibri" pitchFamily="34" charset="-120"/>
              </a:rPr>
              <a:t>Unlike Red Biotechnology (medicine) or Green Biotechnology (agriculture) which are openly discussed and widely commercialised, Black Biotechnology operates largely within classified or restricted frameworks. Governments keep much of the research secret due to dual-use concerns — the same knowledge that enables a vaccine could, in theory, be misused to engineer a more dangerous pathogen. This makes ethical oversight and international treaties (such as the Biological Weapons Convention, 1972) critically important in this space.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4AF37"/>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0A0A0A"/>
                </a:solidFill>
                <a:latin typeface="Arial Black" pitchFamily="34" charset="0"/>
                <a:ea typeface="Arial Black" pitchFamily="34" charset="-122"/>
                <a:cs typeface="Arial Black" pitchFamily="34" charset="-120"/>
              </a:rPr>
              <a:t>02 · OBJECTIVES — Goals of Black Biotechnology</a:t>
            </a:r>
            <a:endParaRPr lang="en-US" sz="2000" dirty="0"/>
          </a:p>
        </p:txBody>
      </p:sp>
      <p:sp>
        <p:nvSpPr>
          <p:cNvPr id="4" name="Text 2"/>
          <p:cNvSpPr/>
          <p:nvPr/>
        </p:nvSpPr>
        <p:spPr>
          <a:xfrm>
            <a:off x="320040" y="749808"/>
            <a:ext cx="8503920" cy="438912"/>
          </a:xfrm>
          <a:prstGeom prst="rect">
            <a:avLst/>
          </a:prstGeom>
          <a:noFill/>
          <a:ln/>
        </p:spPr>
        <p:txBody>
          <a:bodyPr wrap="square" lIns="0" tIns="0" rIns="0" bIns="0" rtlCol="0" anchor="ctr"/>
          <a:lstStyle/>
          <a:p>
            <a:pPr indent="0" marL="0">
              <a:buNone/>
            </a:pPr>
            <a:r>
              <a:rPr lang="en-US" sz="1150" i="1" dirty="0">
                <a:solidFill>
                  <a:srgbClr val="AAAAAA"/>
                </a:solidFill>
                <a:latin typeface="Calibri" pitchFamily="34" charset="0"/>
                <a:ea typeface="Calibri" pitchFamily="34" charset="-122"/>
                <a:cs typeface="Calibri" pitchFamily="34" charset="-120"/>
              </a:rPr>
              <a:t>Black Biotechnology is driven by a set of clearly defined scientific and strategic goals. These objectives guide how governments, defence agencies and research institutions invest in and regulate this sensitive field.</a:t>
            </a:r>
            <a:endParaRPr lang="en-US" sz="1150" dirty="0"/>
          </a:p>
        </p:txBody>
      </p:sp>
      <p:sp>
        <p:nvSpPr>
          <p:cNvPr id="5" name="Shape 3"/>
          <p:cNvSpPr/>
          <p:nvPr/>
        </p:nvSpPr>
        <p:spPr>
          <a:xfrm>
            <a:off x="228600" y="1280160"/>
            <a:ext cx="2788920" cy="1783080"/>
          </a:xfrm>
          <a:prstGeom prst="rect">
            <a:avLst/>
          </a:prstGeom>
          <a:solidFill>
            <a:srgbClr val="161616"/>
          </a:solidFill>
          <a:ln w="6350">
            <a:solidFill>
              <a:srgbClr val="2A2A2A"/>
            </a:solidFill>
            <a:prstDash val="solid"/>
          </a:ln>
        </p:spPr>
      </p:sp>
      <p:sp>
        <p:nvSpPr>
          <p:cNvPr id="6" name="Shape 4"/>
          <p:cNvSpPr/>
          <p:nvPr/>
        </p:nvSpPr>
        <p:spPr>
          <a:xfrm>
            <a:off x="228600" y="1280160"/>
            <a:ext cx="2788920" cy="64008"/>
          </a:xfrm>
          <a:prstGeom prst="rect">
            <a:avLst/>
          </a:prstGeom>
          <a:solidFill>
            <a:srgbClr val="D4AF37"/>
          </a:solidFill>
          <a:ln/>
        </p:spPr>
      </p:sp>
      <p:pic>
        <p:nvPicPr>
          <p:cNvPr id="7" name="Image 0" descr="preencoded.png">    </p:cNvPr>
          <p:cNvPicPr>
            <a:picLocks noChangeAspect="1"/>
          </p:cNvPicPr>
          <p:nvPr/>
        </p:nvPicPr>
        <p:blipFill>
          <a:blip r:embed="rId1"/>
          <a:stretch>
            <a:fillRect/>
          </a:stretch>
        </p:blipFill>
        <p:spPr>
          <a:xfrm>
            <a:off x="1344168" y="1371600"/>
            <a:ext cx="457200" cy="457200"/>
          </a:xfrm>
          <a:prstGeom prst="rect">
            <a:avLst/>
          </a:prstGeom>
        </p:spPr>
      </p:pic>
      <p:sp>
        <p:nvSpPr>
          <p:cNvPr id="8" name="Text 5"/>
          <p:cNvSpPr/>
          <p:nvPr/>
        </p:nvSpPr>
        <p:spPr>
          <a:xfrm>
            <a:off x="338328" y="1892808"/>
            <a:ext cx="2578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Biodefence</a:t>
            </a:r>
            <a:endParaRPr lang="en-US" sz="1200" dirty="0"/>
          </a:p>
        </p:txBody>
      </p:sp>
      <p:sp>
        <p:nvSpPr>
          <p:cNvPr id="9" name="Text 6"/>
          <p:cNvSpPr/>
          <p:nvPr/>
        </p:nvSpPr>
        <p:spPr>
          <a:xfrm>
            <a:off x="320040" y="2194560"/>
            <a:ext cx="2606040" cy="8046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Develop vaccines, antidotes and medical countermeasures to protect populations and military personnel from biological threat agents such as anthrax, botulinum toxin and smallpox.</a:t>
            </a:r>
            <a:endParaRPr lang="en-US" sz="950" dirty="0"/>
          </a:p>
        </p:txBody>
      </p:sp>
      <p:sp>
        <p:nvSpPr>
          <p:cNvPr id="10" name="Shape 7"/>
          <p:cNvSpPr/>
          <p:nvPr/>
        </p:nvSpPr>
        <p:spPr>
          <a:xfrm>
            <a:off x="3172968" y="1280160"/>
            <a:ext cx="2788920" cy="1783080"/>
          </a:xfrm>
          <a:prstGeom prst="rect">
            <a:avLst/>
          </a:prstGeom>
          <a:solidFill>
            <a:srgbClr val="161616"/>
          </a:solidFill>
          <a:ln w="6350">
            <a:solidFill>
              <a:srgbClr val="2A2A2A"/>
            </a:solidFill>
            <a:prstDash val="solid"/>
          </a:ln>
        </p:spPr>
      </p:sp>
      <p:sp>
        <p:nvSpPr>
          <p:cNvPr id="11" name="Shape 8"/>
          <p:cNvSpPr/>
          <p:nvPr/>
        </p:nvSpPr>
        <p:spPr>
          <a:xfrm>
            <a:off x="3172968" y="1280160"/>
            <a:ext cx="2788920" cy="64008"/>
          </a:xfrm>
          <a:prstGeom prst="rect">
            <a:avLst/>
          </a:prstGeom>
          <a:solidFill>
            <a:srgbClr val="D4AF37"/>
          </a:solidFill>
          <a:ln/>
        </p:spPr>
      </p:sp>
      <p:pic>
        <p:nvPicPr>
          <p:cNvPr id="12" name="Image 1" descr="preencoded.png">    </p:cNvPr>
          <p:cNvPicPr>
            <a:picLocks noChangeAspect="1"/>
          </p:cNvPicPr>
          <p:nvPr/>
        </p:nvPicPr>
        <p:blipFill>
          <a:blip r:embed="rId2"/>
          <a:stretch>
            <a:fillRect/>
          </a:stretch>
        </p:blipFill>
        <p:spPr>
          <a:xfrm>
            <a:off x="4288536" y="1371600"/>
            <a:ext cx="457200" cy="457200"/>
          </a:xfrm>
          <a:prstGeom prst="rect">
            <a:avLst/>
          </a:prstGeom>
        </p:spPr>
      </p:pic>
      <p:sp>
        <p:nvSpPr>
          <p:cNvPr id="13" name="Text 9"/>
          <p:cNvSpPr/>
          <p:nvPr/>
        </p:nvSpPr>
        <p:spPr>
          <a:xfrm>
            <a:off x="3282696" y="1892808"/>
            <a:ext cx="2578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Biosurveillance</a:t>
            </a:r>
            <a:endParaRPr lang="en-US" sz="1200" dirty="0"/>
          </a:p>
        </p:txBody>
      </p:sp>
      <p:sp>
        <p:nvSpPr>
          <p:cNvPr id="14" name="Text 10"/>
          <p:cNvSpPr/>
          <p:nvPr/>
        </p:nvSpPr>
        <p:spPr>
          <a:xfrm>
            <a:off x="3264408" y="2194560"/>
            <a:ext cx="2606040" cy="8046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Create and deploy rapid detection and monitoring systems that can identify dangerous biological agents in the field, in the air, or in water supplies before an outbreak occurs.</a:t>
            </a:r>
            <a:endParaRPr lang="en-US" sz="950" dirty="0"/>
          </a:p>
        </p:txBody>
      </p:sp>
      <p:sp>
        <p:nvSpPr>
          <p:cNvPr id="15" name="Shape 11"/>
          <p:cNvSpPr/>
          <p:nvPr/>
        </p:nvSpPr>
        <p:spPr>
          <a:xfrm>
            <a:off x="6117336" y="1280160"/>
            <a:ext cx="2788920" cy="1783080"/>
          </a:xfrm>
          <a:prstGeom prst="rect">
            <a:avLst/>
          </a:prstGeom>
          <a:solidFill>
            <a:srgbClr val="161616"/>
          </a:solidFill>
          <a:ln w="6350">
            <a:solidFill>
              <a:srgbClr val="2A2A2A"/>
            </a:solidFill>
            <a:prstDash val="solid"/>
          </a:ln>
        </p:spPr>
      </p:sp>
      <p:sp>
        <p:nvSpPr>
          <p:cNvPr id="16" name="Shape 12"/>
          <p:cNvSpPr/>
          <p:nvPr/>
        </p:nvSpPr>
        <p:spPr>
          <a:xfrm>
            <a:off x="6117336" y="1280160"/>
            <a:ext cx="2788920" cy="64008"/>
          </a:xfrm>
          <a:prstGeom prst="rect">
            <a:avLst/>
          </a:prstGeom>
          <a:solidFill>
            <a:srgbClr val="D4AF37"/>
          </a:solidFill>
          <a:ln/>
        </p:spPr>
      </p:sp>
      <p:pic>
        <p:nvPicPr>
          <p:cNvPr id="17" name="Image 2" descr="preencoded.png">    </p:cNvPr>
          <p:cNvPicPr>
            <a:picLocks noChangeAspect="1"/>
          </p:cNvPicPr>
          <p:nvPr/>
        </p:nvPicPr>
        <p:blipFill>
          <a:blip r:embed="rId3"/>
          <a:stretch>
            <a:fillRect/>
          </a:stretch>
        </p:blipFill>
        <p:spPr>
          <a:xfrm>
            <a:off x="7232904" y="1371600"/>
            <a:ext cx="457200" cy="457200"/>
          </a:xfrm>
          <a:prstGeom prst="rect">
            <a:avLst/>
          </a:prstGeom>
        </p:spPr>
      </p:pic>
      <p:sp>
        <p:nvSpPr>
          <p:cNvPr id="18" name="Text 13"/>
          <p:cNvSpPr/>
          <p:nvPr/>
        </p:nvSpPr>
        <p:spPr>
          <a:xfrm>
            <a:off x="6227064" y="1892808"/>
            <a:ext cx="2578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 Assessment</a:t>
            </a:r>
            <a:endParaRPr lang="en-US" sz="1200" dirty="0"/>
          </a:p>
        </p:txBody>
      </p:sp>
      <p:sp>
        <p:nvSpPr>
          <p:cNvPr id="19" name="Text 14"/>
          <p:cNvSpPr/>
          <p:nvPr/>
        </p:nvSpPr>
        <p:spPr>
          <a:xfrm>
            <a:off x="6208776" y="2194560"/>
            <a:ext cx="2606040" cy="8046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Characterise dangerous pathogens and biological toxins at the molecular level to understand their mechanisms of harm and inform the design of targeted protective responses.</a:t>
            </a:r>
            <a:endParaRPr lang="en-US" sz="950" dirty="0"/>
          </a:p>
        </p:txBody>
      </p:sp>
      <p:sp>
        <p:nvSpPr>
          <p:cNvPr id="20" name="Shape 15"/>
          <p:cNvSpPr/>
          <p:nvPr/>
        </p:nvSpPr>
        <p:spPr>
          <a:xfrm>
            <a:off x="228600" y="3127248"/>
            <a:ext cx="2788920" cy="1783080"/>
          </a:xfrm>
          <a:prstGeom prst="rect">
            <a:avLst/>
          </a:prstGeom>
          <a:solidFill>
            <a:srgbClr val="161616"/>
          </a:solidFill>
          <a:ln w="6350">
            <a:solidFill>
              <a:srgbClr val="2A2A2A"/>
            </a:solidFill>
            <a:prstDash val="solid"/>
          </a:ln>
        </p:spPr>
      </p:sp>
      <p:sp>
        <p:nvSpPr>
          <p:cNvPr id="21" name="Shape 16"/>
          <p:cNvSpPr/>
          <p:nvPr/>
        </p:nvSpPr>
        <p:spPr>
          <a:xfrm>
            <a:off x="228600" y="3127248"/>
            <a:ext cx="2788920" cy="64008"/>
          </a:xfrm>
          <a:prstGeom prst="rect">
            <a:avLst/>
          </a:prstGeom>
          <a:solidFill>
            <a:srgbClr val="D4AF37"/>
          </a:solidFill>
          <a:ln/>
        </p:spPr>
      </p:sp>
      <p:pic>
        <p:nvPicPr>
          <p:cNvPr id="22" name="Image 3" descr="preencoded.png">    </p:cNvPr>
          <p:cNvPicPr>
            <a:picLocks noChangeAspect="1"/>
          </p:cNvPicPr>
          <p:nvPr/>
        </p:nvPicPr>
        <p:blipFill>
          <a:blip r:embed="rId4"/>
          <a:stretch>
            <a:fillRect/>
          </a:stretch>
        </p:blipFill>
        <p:spPr>
          <a:xfrm>
            <a:off x="1344168" y="3218688"/>
            <a:ext cx="457200" cy="457200"/>
          </a:xfrm>
          <a:prstGeom prst="rect">
            <a:avLst/>
          </a:prstGeom>
        </p:spPr>
      </p:pic>
      <p:sp>
        <p:nvSpPr>
          <p:cNvPr id="23" name="Text 17"/>
          <p:cNvSpPr/>
          <p:nvPr/>
        </p:nvSpPr>
        <p:spPr>
          <a:xfrm>
            <a:off x="338328" y="3739896"/>
            <a:ext cx="2578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Biocontainment</a:t>
            </a:r>
            <a:endParaRPr lang="en-US" sz="1200" dirty="0"/>
          </a:p>
        </p:txBody>
      </p:sp>
      <p:sp>
        <p:nvSpPr>
          <p:cNvPr id="24" name="Text 18"/>
          <p:cNvSpPr/>
          <p:nvPr/>
        </p:nvSpPr>
        <p:spPr>
          <a:xfrm>
            <a:off x="320040" y="4041648"/>
            <a:ext cx="2606040" cy="8046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Design, improve and validate biosafety containment protocols (BSL-3 and BSL-4 levels) to safely handle, study and neutralise highly hazardous biological materials without endangering researchers or communities.</a:t>
            </a:r>
            <a:endParaRPr lang="en-US" sz="950" dirty="0"/>
          </a:p>
        </p:txBody>
      </p:sp>
      <p:sp>
        <p:nvSpPr>
          <p:cNvPr id="25" name="Shape 19"/>
          <p:cNvSpPr/>
          <p:nvPr/>
        </p:nvSpPr>
        <p:spPr>
          <a:xfrm>
            <a:off x="3172968" y="3127248"/>
            <a:ext cx="2788920" cy="1783080"/>
          </a:xfrm>
          <a:prstGeom prst="rect">
            <a:avLst/>
          </a:prstGeom>
          <a:solidFill>
            <a:srgbClr val="161616"/>
          </a:solidFill>
          <a:ln w="6350">
            <a:solidFill>
              <a:srgbClr val="2A2A2A"/>
            </a:solidFill>
            <a:prstDash val="solid"/>
          </a:ln>
        </p:spPr>
      </p:sp>
      <p:sp>
        <p:nvSpPr>
          <p:cNvPr id="26" name="Shape 20"/>
          <p:cNvSpPr/>
          <p:nvPr/>
        </p:nvSpPr>
        <p:spPr>
          <a:xfrm>
            <a:off x="3172968" y="3127248"/>
            <a:ext cx="2788920" cy="64008"/>
          </a:xfrm>
          <a:prstGeom prst="rect">
            <a:avLst/>
          </a:prstGeom>
          <a:solidFill>
            <a:srgbClr val="D4AF37"/>
          </a:solidFill>
          <a:ln/>
        </p:spPr>
      </p:sp>
      <p:pic>
        <p:nvPicPr>
          <p:cNvPr id="27" name="Image 4" descr="preencoded.png">    </p:cNvPr>
          <p:cNvPicPr>
            <a:picLocks noChangeAspect="1"/>
          </p:cNvPicPr>
          <p:nvPr/>
        </p:nvPicPr>
        <p:blipFill>
          <a:blip r:embed="rId5"/>
          <a:stretch>
            <a:fillRect/>
          </a:stretch>
        </p:blipFill>
        <p:spPr>
          <a:xfrm>
            <a:off x="4288536" y="3218688"/>
            <a:ext cx="457200" cy="457200"/>
          </a:xfrm>
          <a:prstGeom prst="rect">
            <a:avLst/>
          </a:prstGeom>
        </p:spPr>
      </p:pic>
      <p:sp>
        <p:nvSpPr>
          <p:cNvPr id="28" name="Text 21"/>
          <p:cNvSpPr/>
          <p:nvPr/>
        </p:nvSpPr>
        <p:spPr>
          <a:xfrm>
            <a:off x="3282696" y="3739896"/>
            <a:ext cx="2578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Forensic Biotech</a:t>
            </a:r>
            <a:endParaRPr lang="en-US" sz="1200" dirty="0"/>
          </a:p>
        </p:txBody>
      </p:sp>
      <p:sp>
        <p:nvSpPr>
          <p:cNvPr id="29" name="Text 22"/>
          <p:cNvSpPr/>
          <p:nvPr/>
        </p:nvSpPr>
        <p:spPr>
          <a:xfrm>
            <a:off x="3264408" y="4041648"/>
            <a:ext cx="2606040" cy="8046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Apply molecular tools — PCR, whole-genome sequencing, proteomics — to trace, identify and legally document biological agents used in bioterrorism incidents or unexplained natural disease outbreaks.</a:t>
            </a:r>
            <a:endParaRPr lang="en-US" sz="950" dirty="0"/>
          </a:p>
        </p:txBody>
      </p:sp>
      <p:sp>
        <p:nvSpPr>
          <p:cNvPr id="30" name="Shape 23"/>
          <p:cNvSpPr/>
          <p:nvPr/>
        </p:nvSpPr>
        <p:spPr>
          <a:xfrm>
            <a:off x="6117336" y="3127248"/>
            <a:ext cx="2788920" cy="1783080"/>
          </a:xfrm>
          <a:prstGeom prst="rect">
            <a:avLst/>
          </a:prstGeom>
          <a:solidFill>
            <a:srgbClr val="161616"/>
          </a:solidFill>
          <a:ln w="6350">
            <a:solidFill>
              <a:srgbClr val="2A2A2A"/>
            </a:solidFill>
            <a:prstDash val="solid"/>
          </a:ln>
        </p:spPr>
      </p:sp>
      <p:sp>
        <p:nvSpPr>
          <p:cNvPr id="31" name="Shape 24"/>
          <p:cNvSpPr/>
          <p:nvPr/>
        </p:nvSpPr>
        <p:spPr>
          <a:xfrm>
            <a:off x="6117336" y="3127248"/>
            <a:ext cx="2788920" cy="64008"/>
          </a:xfrm>
          <a:prstGeom prst="rect">
            <a:avLst/>
          </a:prstGeom>
          <a:solidFill>
            <a:srgbClr val="D4AF37"/>
          </a:solidFill>
          <a:ln/>
        </p:spPr>
      </p:sp>
      <p:pic>
        <p:nvPicPr>
          <p:cNvPr id="32" name="Image 5" descr="preencoded.png">    </p:cNvPr>
          <p:cNvPicPr>
            <a:picLocks noChangeAspect="1"/>
          </p:cNvPicPr>
          <p:nvPr/>
        </p:nvPicPr>
        <p:blipFill>
          <a:blip r:embed="rId6"/>
          <a:stretch>
            <a:fillRect/>
          </a:stretch>
        </p:blipFill>
        <p:spPr>
          <a:xfrm>
            <a:off x="7232904" y="3218688"/>
            <a:ext cx="457200" cy="457200"/>
          </a:xfrm>
          <a:prstGeom prst="rect">
            <a:avLst/>
          </a:prstGeom>
        </p:spPr>
      </p:pic>
      <p:sp>
        <p:nvSpPr>
          <p:cNvPr id="33" name="Text 25"/>
          <p:cNvSpPr/>
          <p:nvPr/>
        </p:nvSpPr>
        <p:spPr>
          <a:xfrm>
            <a:off x="6227064" y="3739896"/>
            <a:ext cx="2578608"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Responsible Innovation</a:t>
            </a:r>
            <a:endParaRPr lang="en-US" sz="1200" dirty="0"/>
          </a:p>
        </p:txBody>
      </p:sp>
      <p:sp>
        <p:nvSpPr>
          <p:cNvPr id="34" name="Text 26"/>
          <p:cNvSpPr/>
          <p:nvPr/>
        </p:nvSpPr>
        <p:spPr>
          <a:xfrm>
            <a:off x="6208776" y="4041648"/>
            <a:ext cx="2606040" cy="8046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Advance powerful dual-use technologies (CRISPR, synthetic biology, AI-driven drug discovery) within robust ethical, legal and international regulatory frameworks to prevent misuse.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22222"/>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D4AF37"/>
                </a:solidFill>
                <a:latin typeface="Arial Black" pitchFamily="34" charset="0"/>
                <a:ea typeface="Arial Black" pitchFamily="34" charset="-122"/>
                <a:cs typeface="Arial Black" pitchFamily="34" charset="-120"/>
              </a:rPr>
              <a:t>03 · CURRENT APPLICATIONS — Biodefence &amp; Detection</a:t>
            </a:r>
            <a:endParaRPr lang="en-US" sz="2000" dirty="0"/>
          </a:p>
        </p:txBody>
      </p:sp>
      <p:sp>
        <p:nvSpPr>
          <p:cNvPr id="4" name="Text 2"/>
          <p:cNvSpPr/>
          <p:nvPr/>
        </p:nvSpPr>
        <p:spPr>
          <a:xfrm>
            <a:off x="274320" y="749808"/>
            <a:ext cx="8595360" cy="438912"/>
          </a:xfrm>
          <a:prstGeom prst="rect">
            <a:avLst/>
          </a:prstGeom>
          <a:noFill/>
          <a:ln/>
        </p:spPr>
        <p:txBody>
          <a:bodyPr wrap="square" lIns="0" tIns="0" rIns="0" bIns="0" rtlCol="0" anchor="ctr"/>
          <a:lstStyle/>
          <a:p>
            <a:pPr indent="0" marL="0">
              <a:buNone/>
            </a:pPr>
            <a:r>
              <a:rPr lang="en-US" sz="1150" dirty="0">
                <a:solidFill>
                  <a:srgbClr val="333333"/>
                </a:solidFill>
                <a:latin typeface="Calibri" pitchFamily="34" charset="0"/>
                <a:ea typeface="Calibri" pitchFamily="34" charset="-122"/>
                <a:cs typeface="Calibri" pitchFamily="34" charset="-120"/>
              </a:rPr>
              <a:t>Several biotechnology products are already deployed in real-world defence and public health settings. The following represent active applications that directly benefit military personnel, emergency responders and civilian populations.</a:t>
            </a:r>
            <a:endParaRPr lang="en-US" sz="1150" dirty="0"/>
          </a:p>
        </p:txBody>
      </p:sp>
      <p:sp>
        <p:nvSpPr>
          <p:cNvPr id="5" name="Shape 3"/>
          <p:cNvSpPr/>
          <p:nvPr/>
        </p:nvSpPr>
        <p:spPr>
          <a:xfrm>
            <a:off x="274320" y="1298448"/>
            <a:ext cx="8595360" cy="1170432"/>
          </a:xfrm>
          <a:prstGeom prst="rect">
            <a:avLst/>
          </a:prstGeom>
          <a:solidFill>
            <a:srgbClr val="0A0A0A"/>
          </a:solidFill>
          <a:ln/>
        </p:spPr>
      </p:sp>
      <p:sp>
        <p:nvSpPr>
          <p:cNvPr id="6" name="Shape 4"/>
          <p:cNvSpPr/>
          <p:nvPr/>
        </p:nvSpPr>
        <p:spPr>
          <a:xfrm>
            <a:off x="274320" y="1298448"/>
            <a:ext cx="91440" cy="1170432"/>
          </a:xfrm>
          <a:prstGeom prst="rect">
            <a:avLst/>
          </a:prstGeom>
          <a:solidFill>
            <a:srgbClr val="D4AF37"/>
          </a:solidFill>
          <a:ln/>
        </p:spPr>
      </p:sp>
      <p:sp>
        <p:nvSpPr>
          <p:cNvPr id="7" name="Shape 5"/>
          <p:cNvSpPr/>
          <p:nvPr/>
        </p:nvSpPr>
        <p:spPr>
          <a:xfrm>
            <a:off x="7635240" y="1362456"/>
            <a:ext cx="1170432" cy="256032"/>
          </a:xfrm>
          <a:prstGeom prst="rect">
            <a:avLst/>
          </a:prstGeom>
          <a:solidFill>
            <a:srgbClr val="D4AF37"/>
          </a:solidFill>
          <a:ln/>
        </p:spPr>
      </p:sp>
      <p:sp>
        <p:nvSpPr>
          <p:cNvPr id="8" name="Text 6"/>
          <p:cNvSpPr/>
          <p:nvPr/>
        </p:nvSpPr>
        <p:spPr>
          <a:xfrm>
            <a:off x="7635240" y="1362456"/>
            <a:ext cx="1170432" cy="256032"/>
          </a:xfrm>
          <a:prstGeom prst="rect">
            <a:avLst/>
          </a:prstGeom>
          <a:noFill/>
          <a:ln/>
        </p:spPr>
        <p:txBody>
          <a:bodyPr wrap="square" lIns="0" tIns="0" rIns="0" bIns="0" rtlCol="0" anchor="ctr"/>
          <a:lstStyle/>
          <a:p>
            <a:pPr algn="ctr" indent="0" marL="0">
              <a:buNone/>
            </a:pPr>
            <a:r>
              <a:rPr lang="en-US" sz="850" b="1" dirty="0">
                <a:solidFill>
                  <a:srgbClr val="0A0A0A"/>
                </a:solidFill>
                <a:latin typeface="Calibri" pitchFamily="34" charset="0"/>
                <a:ea typeface="Calibri" pitchFamily="34" charset="-122"/>
                <a:cs typeface="Calibri" pitchFamily="34" charset="-120"/>
              </a:rPr>
              <a:t>VACCINE</a:t>
            </a:r>
            <a:endParaRPr lang="en-US" sz="850" dirty="0"/>
          </a:p>
        </p:txBody>
      </p:sp>
      <p:sp>
        <p:nvSpPr>
          <p:cNvPr id="9" name="Text 7"/>
          <p:cNvSpPr/>
          <p:nvPr/>
        </p:nvSpPr>
        <p:spPr>
          <a:xfrm>
            <a:off x="475488" y="1344168"/>
            <a:ext cx="704088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BioThrax® — Anthrax Vaccine</a:t>
            </a:r>
            <a:endParaRPr lang="en-US" sz="1300" dirty="0"/>
          </a:p>
        </p:txBody>
      </p:sp>
      <p:sp>
        <p:nvSpPr>
          <p:cNvPr id="10" name="Text 8"/>
          <p:cNvSpPr/>
          <p:nvPr/>
        </p:nvSpPr>
        <p:spPr>
          <a:xfrm>
            <a:off x="475488" y="1609344"/>
            <a:ext cx="8229600" cy="201168"/>
          </a:xfrm>
          <a:prstGeom prst="rect">
            <a:avLst/>
          </a:prstGeom>
          <a:noFill/>
          <a:ln/>
        </p:spPr>
        <p:txBody>
          <a:bodyPr wrap="square" lIns="0" tIns="0" rIns="0" bIns="0" rtlCol="0" anchor="ctr"/>
          <a:lstStyle/>
          <a:p>
            <a:pPr indent="0" marL="0">
              <a:buNone/>
            </a:pPr>
            <a:r>
              <a:rPr lang="en-US" sz="1050" b="1" i="1" dirty="0">
                <a:solidFill>
                  <a:srgbClr val="CCCCCC"/>
                </a:solidFill>
                <a:latin typeface="Calibri" pitchFamily="34" charset="0"/>
                <a:ea typeface="Calibri" pitchFamily="34" charset="-122"/>
                <a:cs typeface="Calibri" pitchFamily="34" charset="-120"/>
              </a:rPr>
              <a:t>Vaccine against weaponised Bacillus anthracis</a:t>
            </a:r>
            <a:endParaRPr lang="en-US" sz="1050" dirty="0"/>
          </a:p>
        </p:txBody>
      </p:sp>
      <p:sp>
        <p:nvSpPr>
          <p:cNvPr id="11" name="Text 9"/>
          <p:cNvSpPr/>
          <p:nvPr/>
        </p:nvSpPr>
        <p:spPr>
          <a:xfrm>
            <a:off x="475488" y="1819656"/>
            <a:ext cx="8229600" cy="59436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Developed by Emergent BioSolutions and FDA-approved, BioThrax is the only licensed anthrax vaccine in the United States. It is given to military personnel deployed in high-risk regions and to emergency first responders. The vaccine works by stimulating antibody production against anthrax protective antigen (PA), preventing the toxin from entering cells.</a:t>
            </a:r>
            <a:endParaRPr lang="en-US" sz="1000" dirty="0"/>
          </a:p>
        </p:txBody>
      </p:sp>
      <p:sp>
        <p:nvSpPr>
          <p:cNvPr id="12" name="Shape 10"/>
          <p:cNvSpPr/>
          <p:nvPr/>
        </p:nvSpPr>
        <p:spPr>
          <a:xfrm>
            <a:off x="274320" y="2551176"/>
            <a:ext cx="8595360" cy="1170432"/>
          </a:xfrm>
          <a:prstGeom prst="rect">
            <a:avLst/>
          </a:prstGeom>
          <a:solidFill>
            <a:srgbClr val="0A0A0A"/>
          </a:solidFill>
          <a:ln/>
        </p:spPr>
      </p:sp>
      <p:sp>
        <p:nvSpPr>
          <p:cNvPr id="13" name="Shape 11"/>
          <p:cNvSpPr/>
          <p:nvPr/>
        </p:nvSpPr>
        <p:spPr>
          <a:xfrm>
            <a:off x="274320" y="2551176"/>
            <a:ext cx="91440" cy="1170432"/>
          </a:xfrm>
          <a:prstGeom prst="rect">
            <a:avLst/>
          </a:prstGeom>
          <a:solidFill>
            <a:srgbClr val="D4AF37"/>
          </a:solidFill>
          <a:ln/>
        </p:spPr>
      </p:sp>
      <p:sp>
        <p:nvSpPr>
          <p:cNvPr id="14" name="Shape 12"/>
          <p:cNvSpPr/>
          <p:nvPr/>
        </p:nvSpPr>
        <p:spPr>
          <a:xfrm>
            <a:off x="7635240" y="2615184"/>
            <a:ext cx="1170432" cy="256032"/>
          </a:xfrm>
          <a:prstGeom prst="rect">
            <a:avLst/>
          </a:prstGeom>
          <a:solidFill>
            <a:srgbClr val="D4AF37"/>
          </a:solidFill>
          <a:ln/>
        </p:spPr>
      </p:sp>
      <p:sp>
        <p:nvSpPr>
          <p:cNvPr id="15" name="Text 13"/>
          <p:cNvSpPr/>
          <p:nvPr/>
        </p:nvSpPr>
        <p:spPr>
          <a:xfrm>
            <a:off x="7635240" y="2615184"/>
            <a:ext cx="1170432" cy="256032"/>
          </a:xfrm>
          <a:prstGeom prst="rect">
            <a:avLst/>
          </a:prstGeom>
          <a:noFill/>
          <a:ln/>
        </p:spPr>
        <p:txBody>
          <a:bodyPr wrap="square" lIns="0" tIns="0" rIns="0" bIns="0" rtlCol="0" anchor="ctr"/>
          <a:lstStyle/>
          <a:p>
            <a:pPr algn="ctr" indent="0" marL="0">
              <a:buNone/>
            </a:pPr>
            <a:r>
              <a:rPr lang="en-US" sz="850" b="1" dirty="0">
                <a:solidFill>
                  <a:srgbClr val="0A0A0A"/>
                </a:solidFill>
                <a:latin typeface="Calibri" pitchFamily="34" charset="0"/>
                <a:ea typeface="Calibri" pitchFamily="34" charset="-122"/>
                <a:cs typeface="Calibri" pitchFamily="34" charset="-120"/>
              </a:rPr>
              <a:t>DETECTION</a:t>
            </a:r>
            <a:endParaRPr lang="en-US" sz="850" dirty="0"/>
          </a:p>
        </p:txBody>
      </p:sp>
      <p:sp>
        <p:nvSpPr>
          <p:cNvPr id="16" name="Text 14"/>
          <p:cNvSpPr/>
          <p:nvPr/>
        </p:nvSpPr>
        <p:spPr>
          <a:xfrm>
            <a:off x="475488" y="2596896"/>
            <a:ext cx="704088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JBAIDS — Rapid Biodetection System</a:t>
            </a:r>
            <a:endParaRPr lang="en-US" sz="1300" dirty="0"/>
          </a:p>
        </p:txBody>
      </p:sp>
      <p:sp>
        <p:nvSpPr>
          <p:cNvPr id="17" name="Text 15"/>
          <p:cNvSpPr/>
          <p:nvPr/>
        </p:nvSpPr>
        <p:spPr>
          <a:xfrm>
            <a:off x="475488" y="2862072"/>
            <a:ext cx="8229600" cy="201168"/>
          </a:xfrm>
          <a:prstGeom prst="rect">
            <a:avLst/>
          </a:prstGeom>
          <a:noFill/>
          <a:ln/>
        </p:spPr>
        <p:txBody>
          <a:bodyPr wrap="square" lIns="0" tIns="0" rIns="0" bIns="0" rtlCol="0" anchor="ctr"/>
          <a:lstStyle/>
          <a:p>
            <a:pPr indent="0" marL="0">
              <a:buNone/>
            </a:pPr>
            <a:r>
              <a:rPr lang="en-US" sz="1050" b="1" i="1" dirty="0">
                <a:solidFill>
                  <a:srgbClr val="CCCCCC"/>
                </a:solidFill>
                <a:latin typeface="Calibri" pitchFamily="34" charset="0"/>
                <a:ea typeface="Calibri" pitchFamily="34" charset="-122"/>
                <a:cs typeface="Calibri" pitchFamily="34" charset="-120"/>
              </a:rPr>
              <a:t>Joint Biological Agent Identification &amp; Diagnostic System</a:t>
            </a:r>
            <a:endParaRPr lang="en-US" sz="1050" dirty="0"/>
          </a:p>
        </p:txBody>
      </p:sp>
      <p:sp>
        <p:nvSpPr>
          <p:cNvPr id="18" name="Text 16"/>
          <p:cNvSpPr/>
          <p:nvPr/>
        </p:nvSpPr>
        <p:spPr>
          <a:xfrm>
            <a:off x="475488" y="3072384"/>
            <a:ext cx="8229600" cy="59436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A portable, PCR-based platform used by the US military capable of detecting up to 30 biological threat agents within 30 minutes in the field. It uses nucleic acid amplification to identify pathogens such as Yersinia pestis (plague), Francisella tularensis (tularemia) and viral haemorrhagic fever agents — enabling rapid triage and containment decisions.</a:t>
            </a:r>
            <a:endParaRPr lang="en-US" sz="1000" dirty="0"/>
          </a:p>
        </p:txBody>
      </p:sp>
      <p:sp>
        <p:nvSpPr>
          <p:cNvPr id="19" name="Shape 17"/>
          <p:cNvSpPr/>
          <p:nvPr/>
        </p:nvSpPr>
        <p:spPr>
          <a:xfrm>
            <a:off x="274320" y="3803904"/>
            <a:ext cx="8595360" cy="1170432"/>
          </a:xfrm>
          <a:prstGeom prst="rect">
            <a:avLst/>
          </a:prstGeom>
          <a:solidFill>
            <a:srgbClr val="0A0A0A"/>
          </a:solidFill>
          <a:ln/>
        </p:spPr>
      </p:sp>
      <p:sp>
        <p:nvSpPr>
          <p:cNvPr id="20" name="Shape 18"/>
          <p:cNvSpPr/>
          <p:nvPr/>
        </p:nvSpPr>
        <p:spPr>
          <a:xfrm>
            <a:off x="274320" y="3803904"/>
            <a:ext cx="91440" cy="1170432"/>
          </a:xfrm>
          <a:prstGeom prst="rect">
            <a:avLst/>
          </a:prstGeom>
          <a:solidFill>
            <a:srgbClr val="D4AF37"/>
          </a:solidFill>
          <a:ln/>
        </p:spPr>
      </p:sp>
      <p:sp>
        <p:nvSpPr>
          <p:cNvPr id="21" name="Shape 19"/>
          <p:cNvSpPr/>
          <p:nvPr/>
        </p:nvSpPr>
        <p:spPr>
          <a:xfrm>
            <a:off x="7635240" y="3867912"/>
            <a:ext cx="1170432" cy="256032"/>
          </a:xfrm>
          <a:prstGeom prst="rect">
            <a:avLst/>
          </a:prstGeom>
          <a:solidFill>
            <a:srgbClr val="D4AF37"/>
          </a:solidFill>
          <a:ln/>
        </p:spPr>
      </p:sp>
      <p:sp>
        <p:nvSpPr>
          <p:cNvPr id="22" name="Text 20"/>
          <p:cNvSpPr/>
          <p:nvPr/>
        </p:nvSpPr>
        <p:spPr>
          <a:xfrm>
            <a:off x="7635240" y="3867912"/>
            <a:ext cx="1170432" cy="256032"/>
          </a:xfrm>
          <a:prstGeom prst="rect">
            <a:avLst/>
          </a:prstGeom>
          <a:noFill/>
          <a:ln/>
        </p:spPr>
        <p:txBody>
          <a:bodyPr wrap="square" lIns="0" tIns="0" rIns="0" bIns="0" rtlCol="0" anchor="ctr"/>
          <a:lstStyle/>
          <a:p>
            <a:pPr algn="ctr" indent="0" marL="0">
              <a:buNone/>
            </a:pPr>
            <a:r>
              <a:rPr lang="en-US" sz="850" b="1" dirty="0">
                <a:solidFill>
                  <a:srgbClr val="0A0A0A"/>
                </a:solidFill>
                <a:latin typeface="Calibri" pitchFamily="34" charset="0"/>
                <a:ea typeface="Calibri" pitchFamily="34" charset="-122"/>
                <a:cs typeface="Calibri" pitchFamily="34" charset="-120"/>
              </a:rPr>
              <a:t>CONTAINMENT</a:t>
            </a:r>
            <a:endParaRPr lang="en-US" sz="850" dirty="0"/>
          </a:p>
        </p:txBody>
      </p:sp>
      <p:sp>
        <p:nvSpPr>
          <p:cNvPr id="23" name="Text 21"/>
          <p:cNvSpPr/>
          <p:nvPr/>
        </p:nvSpPr>
        <p:spPr>
          <a:xfrm>
            <a:off x="475488" y="3849624"/>
            <a:ext cx="704088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BSL-4 Containment Laboratories</a:t>
            </a:r>
            <a:endParaRPr lang="en-US" sz="1300" dirty="0"/>
          </a:p>
        </p:txBody>
      </p:sp>
      <p:sp>
        <p:nvSpPr>
          <p:cNvPr id="24" name="Text 22"/>
          <p:cNvSpPr/>
          <p:nvPr/>
        </p:nvSpPr>
        <p:spPr>
          <a:xfrm>
            <a:off x="475488" y="4114800"/>
            <a:ext cx="8229600" cy="201168"/>
          </a:xfrm>
          <a:prstGeom prst="rect">
            <a:avLst/>
          </a:prstGeom>
          <a:noFill/>
          <a:ln/>
        </p:spPr>
        <p:txBody>
          <a:bodyPr wrap="square" lIns="0" tIns="0" rIns="0" bIns="0" rtlCol="0" anchor="ctr"/>
          <a:lstStyle/>
          <a:p>
            <a:pPr indent="0" marL="0">
              <a:buNone/>
            </a:pPr>
            <a:r>
              <a:rPr lang="en-US" sz="1050" b="1" i="1" dirty="0">
                <a:solidFill>
                  <a:srgbClr val="CCCCCC"/>
                </a:solidFill>
                <a:latin typeface="Calibri" pitchFamily="34" charset="0"/>
                <a:ea typeface="Calibri" pitchFamily="34" charset="-122"/>
                <a:cs typeface="Calibri" pitchFamily="34" charset="-120"/>
              </a:rPr>
              <a:t>Maximum-security research facilities for the world's deadliest pathogens</a:t>
            </a:r>
            <a:endParaRPr lang="en-US" sz="1050" dirty="0"/>
          </a:p>
        </p:txBody>
      </p:sp>
      <p:sp>
        <p:nvSpPr>
          <p:cNvPr id="25" name="Text 23"/>
          <p:cNvSpPr/>
          <p:nvPr/>
        </p:nvSpPr>
        <p:spPr>
          <a:xfrm>
            <a:off x="475488" y="4325112"/>
            <a:ext cx="8229600" cy="59436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BSL-4 (Biosafety Level 4) laboratories such as the CDC in Atlanta and USAMRIID in Maryland provide the infrastructure to safely study Ebola, Marburg, Nipah and other lethal pathogens with no available treatments. Researchers wear fully enclosed positive-pressure suits. These labs are essential for developing antiviral drugs, vaccines and diagnostic tests against potential bioterrorism agents.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22222"/>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D4AF37"/>
                </a:solidFill>
                <a:latin typeface="Arial Black" pitchFamily="34" charset="0"/>
                <a:ea typeface="Arial Black" pitchFamily="34" charset="-122"/>
                <a:cs typeface="Arial Black" pitchFamily="34" charset="-120"/>
              </a:rPr>
              <a:t>03 · CURRENT APPLICATIONS — Industrial &amp; Nano Black Biotech</a:t>
            </a:r>
            <a:endParaRPr lang="en-US" sz="2000" dirty="0"/>
          </a:p>
        </p:txBody>
      </p:sp>
      <p:sp>
        <p:nvSpPr>
          <p:cNvPr id="4" name="Text 2"/>
          <p:cNvSpPr/>
          <p:nvPr/>
        </p:nvSpPr>
        <p:spPr>
          <a:xfrm>
            <a:off x="274320" y="749808"/>
            <a:ext cx="8595360" cy="438912"/>
          </a:xfrm>
          <a:prstGeom prst="rect">
            <a:avLst/>
          </a:prstGeom>
          <a:noFill/>
          <a:ln/>
        </p:spPr>
        <p:txBody>
          <a:bodyPr wrap="square" lIns="0" tIns="0" rIns="0" bIns="0" rtlCol="0" anchor="ctr"/>
          <a:lstStyle/>
          <a:p>
            <a:pPr indent="0" marL="0">
              <a:buNone/>
            </a:pPr>
            <a:r>
              <a:rPr lang="en-US" sz="1150" dirty="0">
                <a:solidFill>
                  <a:srgbClr val="333333"/>
                </a:solidFill>
                <a:latin typeface="Calibri" pitchFamily="34" charset="0"/>
                <a:ea typeface="Calibri" pitchFamily="34" charset="-122"/>
                <a:cs typeface="Calibri" pitchFamily="34" charset="-120"/>
              </a:rPr>
              <a:t>Beyond defence, Black Biotechnology encompasses industrial and nanotechnology applications that exploit the unique properties of carbon-based materials and biological pigments — with broad benefits across medicine, environmental monitoring and manufacturing.</a:t>
            </a:r>
            <a:endParaRPr lang="en-US" sz="1150" dirty="0"/>
          </a:p>
        </p:txBody>
      </p:sp>
      <p:sp>
        <p:nvSpPr>
          <p:cNvPr id="5" name="Shape 3"/>
          <p:cNvSpPr/>
          <p:nvPr/>
        </p:nvSpPr>
        <p:spPr>
          <a:xfrm>
            <a:off x="274320" y="1298448"/>
            <a:ext cx="8595360" cy="1170432"/>
          </a:xfrm>
          <a:prstGeom prst="rect">
            <a:avLst/>
          </a:prstGeom>
          <a:solidFill>
            <a:srgbClr val="0A0A0A"/>
          </a:solidFill>
          <a:ln/>
        </p:spPr>
      </p:sp>
      <p:sp>
        <p:nvSpPr>
          <p:cNvPr id="6" name="Shape 4"/>
          <p:cNvSpPr/>
          <p:nvPr/>
        </p:nvSpPr>
        <p:spPr>
          <a:xfrm>
            <a:off x="274320" y="1298448"/>
            <a:ext cx="91440" cy="1170432"/>
          </a:xfrm>
          <a:prstGeom prst="rect">
            <a:avLst/>
          </a:prstGeom>
          <a:solidFill>
            <a:srgbClr val="D4AF37"/>
          </a:solidFill>
          <a:ln/>
        </p:spPr>
      </p:sp>
      <p:sp>
        <p:nvSpPr>
          <p:cNvPr id="7" name="Shape 5"/>
          <p:cNvSpPr/>
          <p:nvPr/>
        </p:nvSpPr>
        <p:spPr>
          <a:xfrm>
            <a:off x="7635240" y="1362456"/>
            <a:ext cx="1170432" cy="256032"/>
          </a:xfrm>
          <a:prstGeom prst="rect">
            <a:avLst/>
          </a:prstGeom>
          <a:solidFill>
            <a:srgbClr val="D4AF37"/>
          </a:solidFill>
          <a:ln/>
        </p:spPr>
      </p:sp>
      <p:sp>
        <p:nvSpPr>
          <p:cNvPr id="8" name="Text 6"/>
          <p:cNvSpPr/>
          <p:nvPr/>
        </p:nvSpPr>
        <p:spPr>
          <a:xfrm>
            <a:off x="7635240" y="1362456"/>
            <a:ext cx="1170432" cy="256032"/>
          </a:xfrm>
          <a:prstGeom prst="rect">
            <a:avLst/>
          </a:prstGeom>
          <a:noFill/>
          <a:ln/>
        </p:spPr>
        <p:txBody>
          <a:bodyPr wrap="square" lIns="0" tIns="0" rIns="0" bIns="0" rtlCol="0" anchor="ctr"/>
          <a:lstStyle/>
          <a:p>
            <a:pPr algn="ctr" indent="0" marL="0">
              <a:buNone/>
            </a:pPr>
            <a:r>
              <a:rPr lang="en-US" sz="850" b="1" dirty="0">
                <a:solidFill>
                  <a:srgbClr val="0A0A0A"/>
                </a:solidFill>
                <a:latin typeface="Calibri" pitchFamily="34" charset="0"/>
                <a:ea typeface="Calibri" pitchFamily="34" charset="-122"/>
                <a:cs typeface="Calibri" pitchFamily="34" charset="-120"/>
              </a:rPr>
              <a:t>NANOMATERIAL</a:t>
            </a:r>
            <a:endParaRPr lang="en-US" sz="850" dirty="0"/>
          </a:p>
        </p:txBody>
      </p:sp>
      <p:sp>
        <p:nvSpPr>
          <p:cNvPr id="9" name="Text 7"/>
          <p:cNvSpPr/>
          <p:nvPr/>
        </p:nvSpPr>
        <p:spPr>
          <a:xfrm>
            <a:off x="475488" y="1344168"/>
            <a:ext cx="704088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Carbon Black &amp; Carbon Nanotubes (CNTs)</a:t>
            </a:r>
            <a:endParaRPr lang="en-US" sz="1300" dirty="0"/>
          </a:p>
        </p:txBody>
      </p:sp>
      <p:sp>
        <p:nvSpPr>
          <p:cNvPr id="10" name="Text 8"/>
          <p:cNvSpPr/>
          <p:nvPr/>
        </p:nvSpPr>
        <p:spPr>
          <a:xfrm>
            <a:off x="475488" y="1609344"/>
            <a:ext cx="8229600" cy="201168"/>
          </a:xfrm>
          <a:prstGeom prst="rect">
            <a:avLst/>
          </a:prstGeom>
          <a:noFill/>
          <a:ln/>
        </p:spPr>
        <p:txBody>
          <a:bodyPr wrap="square" lIns="0" tIns="0" rIns="0" bIns="0" rtlCol="0" anchor="ctr"/>
          <a:lstStyle/>
          <a:p>
            <a:pPr indent="0" marL="0">
              <a:buNone/>
            </a:pPr>
            <a:r>
              <a:rPr lang="en-US" sz="1050" b="1" i="1" dirty="0">
                <a:solidFill>
                  <a:srgbClr val="CCCCCC"/>
                </a:solidFill>
                <a:latin typeface="Calibri" pitchFamily="34" charset="0"/>
                <a:ea typeface="Calibri" pitchFamily="34" charset="-122"/>
                <a:cs typeface="Calibri" pitchFamily="34" charset="-120"/>
              </a:rPr>
              <a:t>High-performance industrial nanomaterials derived from carbon</a:t>
            </a:r>
            <a:endParaRPr lang="en-US" sz="1050" dirty="0"/>
          </a:p>
        </p:txBody>
      </p:sp>
      <p:sp>
        <p:nvSpPr>
          <p:cNvPr id="11" name="Text 9"/>
          <p:cNvSpPr/>
          <p:nvPr/>
        </p:nvSpPr>
        <p:spPr>
          <a:xfrm>
            <a:off x="475488" y="1819656"/>
            <a:ext cx="8229600" cy="59436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Carbon black — produced by incomplete combustion of hydrocarbons — reinforces rubber in tyres and is used in inks, paints and plastics. Carbon nanotubes are hollow cylindrical nanostructures with extraordinary strength and electrical conductivity. In biotechnology, CNTs serve as drug delivery vectors (targeting tumours), scaffolds in tissue engineering, and components in highly sensitive biosensors and flexible electronics.</a:t>
            </a:r>
            <a:endParaRPr lang="en-US" sz="1000" dirty="0"/>
          </a:p>
        </p:txBody>
      </p:sp>
      <p:sp>
        <p:nvSpPr>
          <p:cNvPr id="12" name="Shape 10"/>
          <p:cNvSpPr/>
          <p:nvPr/>
        </p:nvSpPr>
        <p:spPr>
          <a:xfrm>
            <a:off x="274320" y="2551176"/>
            <a:ext cx="8595360" cy="1170432"/>
          </a:xfrm>
          <a:prstGeom prst="rect">
            <a:avLst/>
          </a:prstGeom>
          <a:solidFill>
            <a:srgbClr val="0A0A0A"/>
          </a:solidFill>
          <a:ln/>
        </p:spPr>
      </p:sp>
      <p:sp>
        <p:nvSpPr>
          <p:cNvPr id="13" name="Shape 11"/>
          <p:cNvSpPr/>
          <p:nvPr/>
        </p:nvSpPr>
        <p:spPr>
          <a:xfrm>
            <a:off x="274320" y="2551176"/>
            <a:ext cx="91440" cy="1170432"/>
          </a:xfrm>
          <a:prstGeom prst="rect">
            <a:avLst/>
          </a:prstGeom>
          <a:solidFill>
            <a:srgbClr val="D4AF37"/>
          </a:solidFill>
          <a:ln/>
        </p:spPr>
      </p:sp>
      <p:sp>
        <p:nvSpPr>
          <p:cNvPr id="14" name="Shape 12"/>
          <p:cNvSpPr/>
          <p:nvPr/>
        </p:nvSpPr>
        <p:spPr>
          <a:xfrm>
            <a:off x="7635240" y="2615184"/>
            <a:ext cx="1170432" cy="256032"/>
          </a:xfrm>
          <a:prstGeom prst="rect">
            <a:avLst/>
          </a:prstGeom>
          <a:solidFill>
            <a:srgbClr val="D4AF37"/>
          </a:solidFill>
          <a:ln/>
        </p:spPr>
      </p:sp>
      <p:sp>
        <p:nvSpPr>
          <p:cNvPr id="15" name="Text 13"/>
          <p:cNvSpPr/>
          <p:nvPr/>
        </p:nvSpPr>
        <p:spPr>
          <a:xfrm>
            <a:off x="7635240" y="2615184"/>
            <a:ext cx="1170432" cy="256032"/>
          </a:xfrm>
          <a:prstGeom prst="rect">
            <a:avLst/>
          </a:prstGeom>
          <a:noFill/>
          <a:ln/>
        </p:spPr>
        <p:txBody>
          <a:bodyPr wrap="square" lIns="0" tIns="0" rIns="0" bIns="0" rtlCol="0" anchor="ctr"/>
          <a:lstStyle/>
          <a:p>
            <a:pPr algn="ctr" indent="0" marL="0">
              <a:buNone/>
            </a:pPr>
            <a:r>
              <a:rPr lang="en-US" sz="850" b="1" dirty="0">
                <a:solidFill>
                  <a:srgbClr val="0A0A0A"/>
                </a:solidFill>
                <a:latin typeface="Calibri" pitchFamily="34" charset="0"/>
                <a:ea typeface="Calibri" pitchFamily="34" charset="-122"/>
                <a:cs typeface="Calibri" pitchFamily="34" charset="-120"/>
              </a:rPr>
              <a:t>BIOSENSOR</a:t>
            </a:r>
            <a:endParaRPr lang="en-US" sz="850" dirty="0"/>
          </a:p>
        </p:txBody>
      </p:sp>
      <p:sp>
        <p:nvSpPr>
          <p:cNvPr id="16" name="Text 14"/>
          <p:cNvSpPr/>
          <p:nvPr/>
        </p:nvSpPr>
        <p:spPr>
          <a:xfrm>
            <a:off x="475488" y="2596896"/>
            <a:ext cx="704088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Melanin-Based Biosensors</a:t>
            </a:r>
            <a:endParaRPr lang="en-US" sz="1300" dirty="0"/>
          </a:p>
        </p:txBody>
      </p:sp>
      <p:sp>
        <p:nvSpPr>
          <p:cNvPr id="17" name="Text 15"/>
          <p:cNvSpPr/>
          <p:nvPr/>
        </p:nvSpPr>
        <p:spPr>
          <a:xfrm>
            <a:off x="475488" y="2862072"/>
            <a:ext cx="8229600" cy="201168"/>
          </a:xfrm>
          <a:prstGeom prst="rect">
            <a:avLst/>
          </a:prstGeom>
          <a:noFill/>
          <a:ln/>
        </p:spPr>
        <p:txBody>
          <a:bodyPr wrap="square" lIns="0" tIns="0" rIns="0" bIns="0" rtlCol="0" anchor="ctr"/>
          <a:lstStyle/>
          <a:p>
            <a:pPr indent="0" marL="0">
              <a:buNone/>
            </a:pPr>
            <a:r>
              <a:rPr lang="en-US" sz="1050" b="1" i="1" dirty="0">
                <a:solidFill>
                  <a:srgbClr val="CCCCCC"/>
                </a:solidFill>
                <a:latin typeface="Calibri" pitchFamily="34" charset="0"/>
                <a:ea typeface="Calibri" pitchFamily="34" charset="-122"/>
                <a:cs typeface="Calibri" pitchFamily="34" charset="-120"/>
              </a:rPr>
              <a:t>Exploiting the electrochemical properties of nature's black pigment</a:t>
            </a:r>
            <a:endParaRPr lang="en-US" sz="1050" dirty="0"/>
          </a:p>
        </p:txBody>
      </p:sp>
      <p:sp>
        <p:nvSpPr>
          <p:cNvPr id="18" name="Text 16"/>
          <p:cNvSpPr/>
          <p:nvPr/>
        </p:nvSpPr>
        <p:spPr>
          <a:xfrm>
            <a:off x="475488" y="3072384"/>
            <a:ext cx="8229600" cy="59436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Melanin possesses natural redox activity and a strong ability to chelate (bind) heavy metal ions such as lead, copper and iron. Researchers are developing melanin-coated electrochemical biosensors that can detect toxic heavy metals in water and soil samples with high sensitivity. These sensors are biodegradable, biocompatible, and represent a greener alternative to conventional chemical-based detection systems.</a:t>
            </a:r>
            <a:endParaRPr lang="en-US" sz="1000" dirty="0"/>
          </a:p>
        </p:txBody>
      </p:sp>
      <p:sp>
        <p:nvSpPr>
          <p:cNvPr id="19" name="Shape 17"/>
          <p:cNvSpPr/>
          <p:nvPr/>
        </p:nvSpPr>
        <p:spPr>
          <a:xfrm>
            <a:off x="274320" y="3803904"/>
            <a:ext cx="8595360" cy="1170432"/>
          </a:xfrm>
          <a:prstGeom prst="rect">
            <a:avLst/>
          </a:prstGeom>
          <a:solidFill>
            <a:srgbClr val="0A0A0A"/>
          </a:solidFill>
          <a:ln/>
        </p:spPr>
      </p:sp>
      <p:sp>
        <p:nvSpPr>
          <p:cNvPr id="20" name="Shape 18"/>
          <p:cNvSpPr/>
          <p:nvPr/>
        </p:nvSpPr>
        <p:spPr>
          <a:xfrm>
            <a:off x="274320" y="3803904"/>
            <a:ext cx="91440" cy="1170432"/>
          </a:xfrm>
          <a:prstGeom prst="rect">
            <a:avLst/>
          </a:prstGeom>
          <a:solidFill>
            <a:srgbClr val="D4AF37"/>
          </a:solidFill>
          <a:ln/>
        </p:spPr>
      </p:sp>
      <p:sp>
        <p:nvSpPr>
          <p:cNvPr id="21" name="Shape 19"/>
          <p:cNvSpPr/>
          <p:nvPr/>
        </p:nvSpPr>
        <p:spPr>
          <a:xfrm>
            <a:off x="7635240" y="3867912"/>
            <a:ext cx="1170432" cy="256032"/>
          </a:xfrm>
          <a:prstGeom prst="rect">
            <a:avLst/>
          </a:prstGeom>
          <a:solidFill>
            <a:srgbClr val="D4AF37"/>
          </a:solidFill>
          <a:ln/>
        </p:spPr>
      </p:sp>
      <p:sp>
        <p:nvSpPr>
          <p:cNvPr id="22" name="Text 20"/>
          <p:cNvSpPr/>
          <p:nvPr/>
        </p:nvSpPr>
        <p:spPr>
          <a:xfrm>
            <a:off x="7635240" y="3867912"/>
            <a:ext cx="1170432" cy="256032"/>
          </a:xfrm>
          <a:prstGeom prst="rect">
            <a:avLst/>
          </a:prstGeom>
          <a:noFill/>
          <a:ln/>
        </p:spPr>
        <p:txBody>
          <a:bodyPr wrap="square" lIns="0" tIns="0" rIns="0" bIns="0" rtlCol="0" anchor="ctr"/>
          <a:lstStyle/>
          <a:p>
            <a:pPr algn="ctr" indent="0" marL="0">
              <a:buNone/>
            </a:pPr>
            <a:r>
              <a:rPr lang="en-US" sz="850" b="1" dirty="0">
                <a:solidFill>
                  <a:srgbClr val="0A0A0A"/>
                </a:solidFill>
                <a:latin typeface="Calibri" pitchFamily="34" charset="0"/>
                <a:ea typeface="Calibri" pitchFamily="34" charset="-122"/>
                <a:cs typeface="Calibri" pitchFamily="34" charset="-120"/>
              </a:rPr>
              <a:t>RECOMBINANT</a:t>
            </a:r>
            <a:endParaRPr lang="en-US" sz="850" dirty="0"/>
          </a:p>
        </p:txBody>
      </p:sp>
      <p:sp>
        <p:nvSpPr>
          <p:cNvPr id="23" name="Text 21"/>
          <p:cNvSpPr/>
          <p:nvPr/>
        </p:nvSpPr>
        <p:spPr>
          <a:xfrm>
            <a:off x="475488" y="3849624"/>
            <a:ext cx="704088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Recombinant Melanin Production</a:t>
            </a:r>
            <a:endParaRPr lang="en-US" sz="1300" dirty="0"/>
          </a:p>
        </p:txBody>
      </p:sp>
      <p:sp>
        <p:nvSpPr>
          <p:cNvPr id="24" name="Text 22"/>
          <p:cNvSpPr/>
          <p:nvPr/>
        </p:nvSpPr>
        <p:spPr>
          <a:xfrm>
            <a:off x="475488" y="4114800"/>
            <a:ext cx="8229600" cy="201168"/>
          </a:xfrm>
          <a:prstGeom prst="rect">
            <a:avLst/>
          </a:prstGeom>
          <a:noFill/>
          <a:ln/>
        </p:spPr>
        <p:txBody>
          <a:bodyPr wrap="square" lIns="0" tIns="0" rIns="0" bIns="0" rtlCol="0" anchor="ctr"/>
          <a:lstStyle/>
          <a:p>
            <a:pPr indent="0" marL="0">
              <a:buNone/>
            </a:pPr>
            <a:r>
              <a:rPr lang="en-US" sz="1050" b="1" i="1" dirty="0">
                <a:solidFill>
                  <a:srgbClr val="CCCCCC"/>
                </a:solidFill>
                <a:latin typeface="Calibri" pitchFamily="34" charset="0"/>
                <a:ea typeface="Calibri" pitchFamily="34" charset="-122"/>
                <a:cs typeface="Calibri" pitchFamily="34" charset="-120"/>
              </a:rPr>
              <a:t>Engineering microbes to produce melanin at industrial scale</a:t>
            </a:r>
            <a:endParaRPr lang="en-US" sz="1050" dirty="0"/>
          </a:p>
        </p:txBody>
      </p:sp>
      <p:sp>
        <p:nvSpPr>
          <p:cNvPr id="25" name="Text 23"/>
          <p:cNvSpPr/>
          <p:nvPr/>
        </p:nvSpPr>
        <p:spPr>
          <a:xfrm>
            <a:off x="475488" y="4325112"/>
            <a:ext cx="8229600" cy="59436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Tyrosinase genes — the enzyme responsible for melanin biosynthesis — are cloned into E. coli, yeast or Aspergillus expression systems. The resulting recombinant microbes produce melanin sustainably without chemical synthesis. Applications include UV-protective sunscreen formulations, biodegradable wound dressings with antimicrobial properties, eco-friendly textile dyes and radiation-shielding coatings for spacecraft and medical imaging equipment.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4AF37"/>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0A0A0A"/>
                </a:solidFill>
                <a:latin typeface="Arial Black" pitchFamily="34" charset="0"/>
                <a:ea typeface="Arial Black" pitchFamily="34" charset="-122"/>
                <a:cs typeface="Arial Black" pitchFamily="34" charset="-120"/>
              </a:rPr>
              <a:t>04 · FUTURE PROSPECTS — Where is Black Biotechnology Headed?</a:t>
            </a:r>
            <a:endParaRPr lang="en-US" sz="2000" dirty="0"/>
          </a:p>
        </p:txBody>
      </p:sp>
      <p:sp>
        <p:nvSpPr>
          <p:cNvPr id="4" name="Text 2"/>
          <p:cNvSpPr/>
          <p:nvPr/>
        </p:nvSpPr>
        <p:spPr>
          <a:xfrm>
            <a:off x="320040" y="749808"/>
            <a:ext cx="8503920" cy="438912"/>
          </a:xfrm>
          <a:prstGeom prst="rect">
            <a:avLst/>
          </a:prstGeom>
          <a:noFill/>
          <a:ln/>
        </p:spPr>
        <p:txBody>
          <a:bodyPr wrap="square" lIns="0" tIns="0" rIns="0" bIns="0" rtlCol="0" anchor="ctr"/>
          <a:lstStyle/>
          <a:p>
            <a:pPr indent="0" marL="0">
              <a:buNone/>
            </a:pPr>
            <a:r>
              <a:rPr lang="en-US" sz="1150" i="1" dirty="0">
                <a:solidFill>
                  <a:srgbClr val="CCCCCC"/>
                </a:solidFill>
                <a:latin typeface="Calibri" pitchFamily="34" charset="0"/>
                <a:ea typeface="Calibri" pitchFamily="34" charset="-122"/>
                <a:cs typeface="Calibri" pitchFamily="34" charset="-120"/>
              </a:rPr>
              <a:t>Rapid advances in gene editing, synthetic biology and artificial intelligence are opening entirely new frontiers for Black Biotechnology. The following four directions represent the most promising — and most closely watched — developments in the field.</a:t>
            </a:r>
            <a:endParaRPr lang="en-US" sz="1150" dirty="0"/>
          </a:p>
        </p:txBody>
      </p:sp>
      <p:sp>
        <p:nvSpPr>
          <p:cNvPr id="5" name="Shape 3"/>
          <p:cNvSpPr/>
          <p:nvPr/>
        </p:nvSpPr>
        <p:spPr>
          <a:xfrm>
            <a:off x="274320" y="1280160"/>
            <a:ext cx="4178808" cy="1828800"/>
          </a:xfrm>
          <a:prstGeom prst="rect">
            <a:avLst/>
          </a:prstGeom>
          <a:solidFill>
            <a:srgbClr val="0D0D1E"/>
          </a:solidFill>
          <a:ln w="6350">
            <a:solidFill>
              <a:srgbClr val="2A2A4A"/>
            </a:solidFill>
            <a:prstDash val="solid"/>
          </a:ln>
        </p:spPr>
      </p:sp>
      <p:sp>
        <p:nvSpPr>
          <p:cNvPr id="6" name="Shape 4"/>
          <p:cNvSpPr/>
          <p:nvPr/>
        </p:nvSpPr>
        <p:spPr>
          <a:xfrm>
            <a:off x="274320" y="1280160"/>
            <a:ext cx="4178808" cy="64008"/>
          </a:xfrm>
          <a:prstGeom prst="rect">
            <a:avLst/>
          </a:prstGeom>
          <a:solidFill>
            <a:srgbClr val="D4AF37"/>
          </a:solidFill>
          <a:ln/>
        </p:spPr>
      </p:sp>
      <p:pic>
        <p:nvPicPr>
          <p:cNvPr id="7" name="Image 0" descr="preencoded.png">    </p:cNvPr>
          <p:cNvPicPr>
            <a:picLocks noChangeAspect="1"/>
          </p:cNvPicPr>
          <p:nvPr/>
        </p:nvPicPr>
        <p:blipFill>
          <a:blip r:embed="rId1"/>
          <a:stretch>
            <a:fillRect/>
          </a:stretch>
        </p:blipFill>
        <p:spPr>
          <a:xfrm>
            <a:off x="429768" y="1417320"/>
            <a:ext cx="438912" cy="438912"/>
          </a:xfrm>
          <a:prstGeom prst="rect">
            <a:avLst/>
          </a:prstGeom>
        </p:spPr>
      </p:pic>
      <p:sp>
        <p:nvSpPr>
          <p:cNvPr id="8" name="Text 5"/>
          <p:cNvSpPr/>
          <p:nvPr/>
        </p:nvSpPr>
        <p:spPr>
          <a:xfrm>
            <a:off x="987552" y="1389888"/>
            <a:ext cx="3337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CRISPR-Based Biodefence</a:t>
            </a:r>
            <a:endParaRPr lang="en-US" sz="1200" dirty="0"/>
          </a:p>
        </p:txBody>
      </p:sp>
      <p:sp>
        <p:nvSpPr>
          <p:cNvPr id="9" name="Text 6"/>
          <p:cNvSpPr/>
          <p:nvPr/>
        </p:nvSpPr>
        <p:spPr>
          <a:xfrm>
            <a:off x="987552" y="1664208"/>
            <a:ext cx="3337560" cy="201168"/>
          </a:xfrm>
          <a:prstGeom prst="rect">
            <a:avLst/>
          </a:prstGeom>
          <a:noFill/>
          <a:ln/>
        </p:spPr>
        <p:txBody>
          <a:bodyPr wrap="square" lIns="0" tIns="0" rIns="0" bIns="0" rtlCol="0" anchor="ctr"/>
          <a:lstStyle/>
          <a:p>
            <a:pPr indent="0" marL="0">
              <a:buNone/>
            </a:pPr>
            <a:r>
              <a:rPr lang="en-US" sz="950" i="1" dirty="0">
                <a:solidFill>
                  <a:srgbClr val="D4AF37"/>
                </a:solidFill>
                <a:latin typeface="Calibri" pitchFamily="34" charset="0"/>
                <a:ea typeface="Calibri" pitchFamily="34" charset="-122"/>
                <a:cs typeface="Calibri" pitchFamily="34" charset="-120"/>
              </a:rPr>
              <a:t>Editing genes to resist biological threats</a:t>
            </a:r>
            <a:endParaRPr lang="en-US" sz="950" dirty="0"/>
          </a:p>
        </p:txBody>
      </p:sp>
      <p:sp>
        <p:nvSpPr>
          <p:cNvPr id="10" name="Text 7"/>
          <p:cNvSpPr/>
          <p:nvPr/>
        </p:nvSpPr>
        <p:spPr>
          <a:xfrm>
            <a:off x="411480" y="1965960"/>
            <a:ext cx="3913632" cy="107899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CRISPR-Cas9 tools are being investigated to engineer human immune cells that are intrinsically resistant to specific pathogens. Prophylactic gene therapies could one day make soldiers or first responders resistant to weaponisable agents like anthrax spores or plague bacteria — without the need for repeated vaccinations.</a:t>
            </a:r>
            <a:endParaRPr lang="en-US" sz="1000" dirty="0"/>
          </a:p>
        </p:txBody>
      </p:sp>
      <p:sp>
        <p:nvSpPr>
          <p:cNvPr id="11" name="Shape 8"/>
          <p:cNvSpPr/>
          <p:nvPr/>
        </p:nvSpPr>
        <p:spPr>
          <a:xfrm>
            <a:off x="4727448" y="1280160"/>
            <a:ext cx="4178808" cy="1828800"/>
          </a:xfrm>
          <a:prstGeom prst="rect">
            <a:avLst/>
          </a:prstGeom>
          <a:solidFill>
            <a:srgbClr val="0D0D1E"/>
          </a:solidFill>
          <a:ln w="6350">
            <a:solidFill>
              <a:srgbClr val="2A2A4A"/>
            </a:solidFill>
            <a:prstDash val="solid"/>
          </a:ln>
        </p:spPr>
      </p:sp>
      <p:sp>
        <p:nvSpPr>
          <p:cNvPr id="12" name="Shape 9"/>
          <p:cNvSpPr/>
          <p:nvPr/>
        </p:nvSpPr>
        <p:spPr>
          <a:xfrm>
            <a:off x="4727448" y="1280160"/>
            <a:ext cx="4178808" cy="64008"/>
          </a:xfrm>
          <a:prstGeom prst="rect">
            <a:avLst/>
          </a:prstGeom>
          <a:solidFill>
            <a:srgbClr val="D4AF37"/>
          </a:solidFill>
          <a:ln/>
        </p:spPr>
      </p:sp>
      <p:pic>
        <p:nvPicPr>
          <p:cNvPr id="13" name="Image 1" descr="preencoded.png">    </p:cNvPr>
          <p:cNvPicPr>
            <a:picLocks noChangeAspect="1"/>
          </p:cNvPicPr>
          <p:nvPr/>
        </p:nvPicPr>
        <p:blipFill>
          <a:blip r:embed="rId2"/>
          <a:stretch>
            <a:fillRect/>
          </a:stretch>
        </p:blipFill>
        <p:spPr>
          <a:xfrm>
            <a:off x="4882896" y="1417320"/>
            <a:ext cx="438912" cy="438912"/>
          </a:xfrm>
          <a:prstGeom prst="rect">
            <a:avLst/>
          </a:prstGeom>
        </p:spPr>
      </p:pic>
      <p:sp>
        <p:nvSpPr>
          <p:cNvPr id="14" name="Text 10"/>
          <p:cNvSpPr/>
          <p:nvPr/>
        </p:nvSpPr>
        <p:spPr>
          <a:xfrm>
            <a:off x="5440680" y="1389888"/>
            <a:ext cx="3337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Synthetic Biology Shields</a:t>
            </a:r>
            <a:endParaRPr lang="en-US" sz="1200" dirty="0"/>
          </a:p>
        </p:txBody>
      </p:sp>
      <p:sp>
        <p:nvSpPr>
          <p:cNvPr id="15" name="Text 11"/>
          <p:cNvSpPr/>
          <p:nvPr/>
        </p:nvSpPr>
        <p:spPr>
          <a:xfrm>
            <a:off x="5440680" y="1664208"/>
            <a:ext cx="3337560" cy="201168"/>
          </a:xfrm>
          <a:prstGeom prst="rect">
            <a:avLst/>
          </a:prstGeom>
          <a:noFill/>
          <a:ln/>
        </p:spPr>
        <p:txBody>
          <a:bodyPr wrap="square" lIns="0" tIns="0" rIns="0" bIns="0" rtlCol="0" anchor="ctr"/>
          <a:lstStyle/>
          <a:p>
            <a:pPr indent="0" marL="0">
              <a:buNone/>
            </a:pPr>
            <a:r>
              <a:rPr lang="en-US" sz="950" i="1" dirty="0">
                <a:solidFill>
                  <a:srgbClr val="D4AF37"/>
                </a:solidFill>
                <a:latin typeface="Calibri" pitchFamily="34" charset="0"/>
                <a:ea typeface="Calibri" pitchFamily="34" charset="-122"/>
                <a:cs typeface="Calibri" pitchFamily="34" charset="-120"/>
              </a:rPr>
              <a:t>Designer organisms as living sensors and neutralisers</a:t>
            </a:r>
            <a:endParaRPr lang="en-US" sz="950" dirty="0"/>
          </a:p>
        </p:txBody>
      </p:sp>
      <p:sp>
        <p:nvSpPr>
          <p:cNvPr id="16" name="Text 12"/>
          <p:cNvSpPr/>
          <p:nvPr/>
        </p:nvSpPr>
        <p:spPr>
          <a:xfrm>
            <a:off x="4864608" y="1965960"/>
            <a:ext cx="3913632" cy="107899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Synthetic biologists are designing engineered microorganisms programmed to detect and degrade chemical and biological warfare agents in real time. These 'living sensors' could be embedded in protective gear, deployed in water treatment systems, or used as field decontaminants that activate only in the presence of specific threat signatures.</a:t>
            </a:r>
            <a:endParaRPr lang="en-US" sz="1000" dirty="0"/>
          </a:p>
        </p:txBody>
      </p:sp>
      <p:sp>
        <p:nvSpPr>
          <p:cNvPr id="17" name="Shape 13"/>
          <p:cNvSpPr/>
          <p:nvPr/>
        </p:nvSpPr>
        <p:spPr>
          <a:xfrm>
            <a:off x="274320" y="3172968"/>
            <a:ext cx="4178808" cy="1828800"/>
          </a:xfrm>
          <a:prstGeom prst="rect">
            <a:avLst/>
          </a:prstGeom>
          <a:solidFill>
            <a:srgbClr val="0D0D1E"/>
          </a:solidFill>
          <a:ln w="6350">
            <a:solidFill>
              <a:srgbClr val="2A2A4A"/>
            </a:solidFill>
            <a:prstDash val="solid"/>
          </a:ln>
        </p:spPr>
      </p:sp>
      <p:sp>
        <p:nvSpPr>
          <p:cNvPr id="18" name="Shape 14"/>
          <p:cNvSpPr/>
          <p:nvPr/>
        </p:nvSpPr>
        <p:spPr>
          <a:xfrm>
            <a:off x="274320" y="3172968"/>
            <a:ext cx="4178808" cy="64008"/>
          </a:xfrm>
          <a:prstGeom prst="rect">
            <a:avLst/>
          </a:prstGeom>
          <a:solidFill>
            <a:srgbClr val="D4AF37"/>
          </a:solidFill>
          <a:ln/>
        </p:spPr>
      </p:sp>
      <p:pic>
        <p:nvPicPr>
          <p:cNvPr id="19" name="Image 2" descr="preencoded.png">    </p:cNvPr>
          <p:cNvPicPr>
            <a:picLocks noChangeAspect="1"/>
          </p:cNvPicPr>
          <p:nvPr/>
        </p:nvPicPr>
        <p:blipFill>
          <a:blip r:embed="rId3"/>
          <a:stretch>
            <a:fillRect/>
          </a:stretch>
        </p:blipFill>
        <p:spPr>
          <a:xfrm>
            <a:off x="429768" y="3310128"/>
            <a:ext cx="438912" cy="438912"/>
          </a:xfrm>
          <a:prstGeom prst="rect">
            <a:avLst/>
          </a:prstGeom>
        </p:spPr>
      </p:pic>
      <p:sp>
        <p:nvSpPr>
          <p:cNvPr id="20" name="Text 15"/>
          <p:cNvSpPr/>
          <p:nvPr/>
        </p:nvSpPr>
        <p:spPr>
          <a:xfrm>
            <a:off x="987552" y="3282696"/>
            <a:ext cx="3337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Melanin Nanoparticles in Cancer Therapy</a:t>
            </a:r>
            <a:endParaRPr lang="en-US" sz="1200" dirty="0"/>
          </a:p>
        </p:txBody>
      </p:sp>
      <p:sp>
        <p:nvSpPr>
          <p:cNvPr id="21" name="Text 16"/>
          <p:cNvSpPr/>
          <p:nvPr/>
        </p:nvSpPr>
        <p:spPr>
          <a:xfrm>
            <a:off x="987552" y="3557016"/>
            <a:ext cx="3337560" cy="201168"/>
          </a:xfrm>
          <a:prstGeom prst="rect">
            <a:avLst/>
          </a:prstGeom>
          <a:noFill/>
          <a:ln/>
        </p:spPr>
        <p:txBody>
          <a:bodyPr wrap="square" lIns="0" tIns="0" rIns="0" bIns="0" rtlCol="0" anchor="ctr"/>
          <a:lstStyle/>
          <a:p>
            <a:pPr indent="0" marL="0">
              <a:buNone/>
            </a:pPr>
            <a:r>
              <a:rPr lang="en-US" sz="950" i="1" dirty="0">
                <a:solidFill>
                  <a:srgbClr val="D4AF37"/>
                </a:solidFill>
                <a:latin typeface="Calibri" pitchFamily="34" charset="0"/>
                <a:ea typeface="Calibri" pitchFamily="34" charset="-122"/>
                <a:cs typeface="Calibri" pitchFamily="34" charset="-120"/>
              </a:rPr>
              <a:t>Turning a natural pigment into a precision cancer weapon</a:t>
            </a:r>
            <a:endParaRPr lang="en-US" sz="950" dirty="0"/>
          </a:p>
        </p:txBody>
      </p:sp>
      <p:sp>
        <p:nvSpPr>
          <p:cNvPr id="22" name="Text 17"/>
          <p:cNvSpPr/>
          <p:nvPr/>
        </p:nvSpPr>
        <p:spPr>
          <a:xfrm>
            <a:off x="411480" y="3858768"/>
            <a:ext cx="3913632" cy="107899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Melanin nanoparticles absorb near-infrared (NIR) light and convert it into localised heat, selectively destroying tumour cells in a process called photothermal therapy. Unlike chemotherapy, this approach targets only the tumour site. Clinical trials are actively underway for melanoma, skin cancer and other solid tumours.</a:t>
            </a:r>
            <a:endParaRPr lang="en-US" sz="1000" dirty="0"/>
          </a:p>
        </p:txBody>
      </p:sp>
      <p:sp>
        <p:nvSpPr>
          <p:cNvPr id="23" name="Shape 18"/>
          <p:cNvSpPr/>
          <p:nvPr/>
        </p:nvSpPr>
        <p:spPr>
          <a:xfrm>
            <a:off x="4727448" y="3172968"/>
            <a:ext cx="4178808" cy="1828800"/>
          </a:xfrm>
          <a:prstGeom prst="rect">
            <a:avLst/>
          </a:prstGeom>
          <a:solidFill>
            <a:srgbClr val="0D0D1E"/>
          </a:solidFill>
          <a:ln w="6350">
            <a:solidFill>
              <a:srgbClr val="2A2A4A"/>
            </a:solidFill>
            <a:prstDash val="solid"/>
          </a:ln>
        </p:spPr>
      </p:sp>
      <p:sp>
        <p:nvSpPr>
          <p:cNvPr id="24" name="Shape 19"/>
          <p:cNvSpPr/>
          <p:nvPr/>
        </p:nvSpPr>
        <p:spPr>
          <a:xfrm>
            <a:off x="4727448" y="3172968"/>
            <a:ext cx="4178808" cy="64008"/>
          </a:xfrm>
          <a:prstGeom prst="rect">
            <a:avLst/>
          </a:prstGeom>
          <a:solidFill>
            <a:srgbClr val="D4AF37"/>
          </a:solidFill>
          <a:ln/>
        </p:spPr>
      </p:sp>
      <p:pic>
        <p:nvPicPr>
          <p:cNvPr id="25" name="Image 3" descr="preencoded.png">    </p:cNvPr>
          <p:cNvPicPr>
            <a:picLocks noChangeAspect="1"/>
          </p:cNvPicPr>
          <p:nvPr/>
        </p:nvPicPr>
        <p:blipFill>
          <a:blip r:embed="rId4"/>
          <a:stretch>
            <a:fillRect/>
          </a:stretch>
        </p:blipFill>
        <p:spPr>
          <a:xfrm>
            <a:off x="4882896" y="3310128"/>
            <a:ext cx="438912" cy="438912"/>
          </a:xfrm>
          <a:prstGeom prst="rect">
            <a:avLst/>
          </a:prstGeom>
        </p:spPr>
      </p:pic>
      <p:sp>
        <p:nvSpPr>
          <p:cNvPr id="26" name="Text 20"/>
          <p:cNvSpPr/>
          <p:nvPr/>
        </p:nvSpPr>
        <p:spPr>
          <a:xfrm>
            <a:off x="5440680" y="3282696"/>
            <a:ext cx="3337560"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AI-Driven Pathogen Surveillance</a:t>
            </a:r>
            <a:endParaRPr lang="en-US" sz="1200" dirty="0"/>
          </a:p>
        </p:txBody>
      </p:sp>
      <p:sp>
        <p:nvSpPr>
          <p:cNvPr id="27" name="Text 21"/>
          <p:cNvSpPr/>
          <p:nvPr/>
        </p:nvSpPr>
        <p:spPr>
          <a:xfrm>
            <a:off x="5440680" y="3557016"/>
            <a:ext cx="3337560" cy="201168"/>
          </a:xfrm>
          <a:prstGeom prst="rect">
            <a:avLst/>
          </a:prstGeom>
          <a:noFill/>
          <a:ln/>
        </p:spPr>
        <p:txBody>
          <a:bodyPr wrap="square" lIns="0" tIns="0" rIns="0" bIns="0" rtlCol="0" anchor="ctr"/>
          <a:lstStyle/>
          <a:p>
            <a:pPr indent="0" marL="0">
              <a:buNone/>
            </a:pPr>
            <a:r>
              <a:rPr lang="en-US" sz="950" i="1" dirty="0">
                <a:solidFill>
                  <a:srgbClr val="D4AF37"/>
                </a:solidFill>
                <a:latin typeface="Calibri" pitchFamily="34" charset="0"/>
                <a:ea typeface="Calibri" pitchFamily="34" charset="-122"/>
                <a:cs typeface="Calibri" pitchFamily="34" charset="-120"/>
              </a:rPr>
              <a:t>Predicting biological threats before they emerge</a:t>
            </a:r>
            <a:endParaRPr lang="en-US" sz="950" dirty="0"/>
          </a:p>
        </p:txBody>
      </p:sp>
      <p:sp>
        <p:nvSpPr>
          <p:cNvPr id="28" name="Text 22"/>
          <p:cNvSpPr/>
          <p:nvPr/>
        </p:nvSpPr>
        <p:spPr>
          <a:xfrm>
            <a:off x="4864608" y="3858768"/>
            <a:ext cx="3913632" cy="1078992"/>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Machine learning algorithms integrated with global genomic databases and environmental sensors can identify unusual genetic signatures in pathogen populations — flagging potential emerging threats weeks before a traditional epidemiological alert would be raised. This enables preemptive vaccine and countermeasure development at unprecedented speed.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4AF37"/>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000" b="1" dirty="0">
                <a:solidFill>
                  <a:srgbClr val="0A0A0A"/>
                </a:solidFill>
                <a:latin typeface="Arial Black" pitchFamily="34" charset="0"/>
                <a:ea typeface="Arial Black" pitchFamily="34" charset="-122"/>
                <a:cs typeface="Arial Black" pitchFamily="34" charset="-120"/>
              </a:rPr>
              <a:t>05 · CONCERNS — Socioeconomic, Environmental &amp; Ethical Issues</a:t>
            </a:r>
            <a:endParaRPr lang="en-US" sz="2000" dirty="0"/>
          </a:p>
        </p:txBody>
      </p:sp>
      <p:sp>
        <p:nvSpPr>
          <p:cNvPr id="4" name="Text 2"/>
          <p:cNvSpPr/>
          <p:nvPr/>
        </p:nvSpPr>
        <p:spPr>
          <a:xfrm>
            <a:off x="320040" y="749808"/>
            <a:ext cx="8503920" cy="384048"/>
          </a:xfrm>
          <a:prstGeom prst="rect">
            <a:avLst/>
          </a:prstGeom>
          <a:noFill/>
          <a:ln/>
        </p:spPr>
        <p:txBody>
          <a:bodyPr wrap="square" lIns="0" tIns="0" rIns="0" bIns="0" rtlCol="0" anchor="ctr"/>
          <a:lstStyle/>
          <a:p>
            <a:pPr indent="0" marL="0">
              <a:buNone/>
            </a:pPr>
            <a:r>
              <a:rPr lang="en-US" sz="1150" i="1" dirty="0">
                <a:solidFill>
                  <a:srgbClr val="AAAAAA"/>
                </a:solidFill>
                <a:latin typeface="Calibri" pitchFamily="34" charset="0"/>
                <a:ea typeface="Calibri" pitchFamily="34" charset="-122"/>
                <a:cs typeface="Calibri" pitchFamily="34" charset="-120"/>
              </a:rPr>
              <a:t>The power of Black Biotechnology comes with significant responsibilities. As the field advances, three major categories of concern demand urgent attention from scientists, policymakers and the public alike.</a:t>
            </a:r>
            <a:endParaRPr lang="en-US" sz="1150" dirty="0"/>
          </a:p>
        </p:txBody>
      </p:sp>
      <p:sp>
        <p:nvSpPr>
          <p:cNvPr id="5" name="Shape 3"/>
          <p:cNvSpPr/>
          <p:nvPr/>
        </p:nvSpPr>
        <p:spPr>
          <a:xfrm>
            <a:off x="274320" y="1225296"/>
            <a:ext cx="8595360" cy="1216152"/>
          </a:xfrm>
          <a:prstGeom prst="rect">
            <a:avLst/>
          </a:prstGeom>
          <a:solidFill>
            <a:srgbClr val="161616"/>
          </a:solidFill>
          <a:ln/>
        </p:spPr>
      </p:sp>
      <p:sp>
        <p:nvSpPr>
          <p:cNvPr id="6" name="Shape 4"/>
          <p:cNvSpPr/>
          <p:nvPr/>
        </p:nvSpPr>
        <p:spPr>
          <a:xfrm>
            <a:off x="274320" y="1225296"/>
            <a:ext cx="91440" cy="1216152"/>
          </a:xfrm>
          <a:prstGeom prst="rect">
            <a:avLst/>
          </a:prstGeom>
          <a:solidFill>
            <a:srgbClr val="D4AF37"/>
          </a:solidFill>
          <a:ln/>
        </p:spPr>
      </p:sp>
      <p:sp>
        <p:nvSpPr>
          <p:cNvPr id="7" name="Shape 5"/>
          <p:cNvSpPr/>
          <p:nvPr/>
        </p:nvSpPr>
        <p:spPr>
          <a:xfrm>
            <a:off x="365760" y="1225296"/>
            <a:ext cx="1554480" cy="292608"/>
          </a:xfrm>
          <a:prstGeom prst="rect">
            <a:avLst/>
          </a:prstGeom>
          <a:solidFill>
            <a:srgbClr val="D4AF37"/>
          </a:solidFill>
          <a:ln/>
        </p:spPr>
      </p:sp>
      <p:sp>
        <p:nvSpPr>
          <p:cNvPr id="8" name="Text 6"/>
          <p:cNvSpPr/>
          <p:nvPr/>
        </p:nvSpPr>
        <p:spPr>
          <a:xfrm>
            <a:off x="365760" y="1225296"/>
            <a:ext cx="1554480" cy="292608"/>
          </a:xfrm>
          <a:prstGeom prst="rect">
            <a:avLst/>
          </a:prstGeom>
          <a:noFill/>
          <a:ln/>
        </p:spPr>
        <p:txBody>
          <a:bodyPr wrap="square" lIns="0" tIns="0" rIns="0" bIns="0" rtlCol="0" anchor="ctr"/>
          <a:lstStyle/>
          <a:p>
            <a:pPr algn="ctr" indent="0" marL="0">
              <a:buNone/>
            </a:pPr>
            <a:r>
              <a:rPr lang="en-US" sz="900" b="1" dirty="0">
                <a:solidFill>
                  <a:srgbClr val="0A0A0A"/>
                </a:solidFill>
                <a:latin typeface="Calibri" pitchFamily="34" charset="0"/>
                <a:ea typeface="Calibri" pitchFamily="34" charset="-122"/>
                <a:cs typeface="Calibri" pitchFamily="34" charset="-120"/>
              </a:rPr>
              <a:t>SOCIOECONOMIC</a:t>
            </a:r>
            <a:endParaRPr lang="en-US" sz="900" dirty="0"/>
          </a:p>
        </p:txBody>
      </p:sp>
      <p:sp>
        <p:nvSpPr>
          <p:cNvPr id="9" name="Text 7"/>
          <p:cNvSpPr/>
          <p:nvPr/>
        </p:nvSpPr>
        <p:spPr>
          <a:xfrm>
            <a:off x="2057400" y="1261872"/>
            <a:ext cx="6675120" cy="228600"/>
          </a:xfrm>
          <a:prstGeom prst="rect">
            <a:avLst/>
          </a:prstGeom>
          <a:noFill/>
          <a:ln/>
        </p:spPr>
        <p:txBody>
          <a:bodyPr wrap="square" lIns="0" tIns="0" rIns="0" bIns="0" rtlCol="0" anchor="ctr"/>
          <a:lstStyle/>
          <a:p>
            <a:pPr indent="0" marL="0">
              <a:buNone/>
            </a:pPr>
            <a:r>
              <a:rPr lang="en-US" sz="1050" i="1" dirty="0">
                <a:solidFill>
                  <a:srgbClr val="D4AF37"/>
                </a:solidFill>
                <a:latin typeface="Calibri" pitchFamily="34" charset="0"/>
                <a:ea typeface="Calibri" pitchFamily="34" charset="-122"/>
                <a:cs typeface="Calibri" pitchFamily="34" charset="-120"/>
              </a:rPr>
              <a:t>Who has access, and who bears the cost?</a:t>
            </a:r>
            <a:endParaRPr lang="en-US" sz="1050" dirty="0"/>
          </a:p>
        </p:txBody>
      </p:sp>
      <p:sp>
        <p:nvSpPr>
          <p:cNvPr id="10" name="Text 8"/>
          <p:cNvSpPr/>
          <p:nvPr/>
        </p:nvSpPr>
        <p:spPr>
          <a:xfrm>
            <a:off x="502920" y="1554480"/>
            <a:ext cx="8275320" cy="822960"/>
          </a:xfrm>
          <a:prstGeom prst="rect">
            <a:avLst/>
          </a:prstGeom>
          <a:noFill/>
          <a:ln/>
        </p:spPr>
        <p:txBody>
          <a:bodyPr wrap="square" rtlCol="0" anchor="ctr"/>
          <a:lstStyle/>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The extreme cost of BSL-4 facilities (often hundreds of millions of dollars) restricts cutting-edge biodefence research to wealthy nations, widening the global biotechnology gap.</a:t>
            </a:r>
            <a:endParaRPr lang="en-US" sz="1000" dirty="0"/>
          </a:p>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Dual-use research creates commercial pressure to exploit sensitive biological knowledge, raising concerns about profit motives overriding public safety.</a:t>
            </a:r>
            <a:endParaRPr lang="en-US" sz="1000" dirty="0"/>
          </a:p>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While biodefence sectors create skilled employment, insider threat risks — where trusted researchers misuse access — remain a significant security concern.</a:t>
            </a:r>
            <a:endParaRPr lang="en-US" sz="1000" dirty="0"/>
          </a:p>
        </p:txBody>
      </p:sp>
      <p:sp>
        <p:nvSpPr>
          <p:cNvPr id="11" name="Shape 9"/>
          <p:cNvSpPr/>
          <p:nvPr/>
        </p:nvSpPr>
        <p:spPr>
          <a:xfrm>
            <a:off x="274320" y="2523744"/>
            <a:ext cx="8595360" cy="1216152"/>
          </a:xfrm>
          <a:prstGeom prst="rect">
            <a:avLst/>
          </a:prstGeom>
          <a:solidFill>
            <a:srgbClr val="161616"/>
          </a:solidFill>
          <a:ln/>
        </p:spPr>
      </p:sp>
      <p:sp>
        <p:nvSpPr>
          <p:cNvPr id="12" name="Shape 10"/>
          <p:cNvSpPr/>
          <p:nvPr/>
        </p:nvSpPr>
        <p:spPr>
          <a:xfrm>
            <a:off x="274320" y="2523744"/>
            <a:ext cx="91440" cy="1216152"/>
          </a:xfrm>
          <a:prstGeom prst="rect">
            <a:avLst/>
          </a:prstGeom>
          <a:solidFill>
            <a:srgbClr val="4CAF50"/>
          </a:solidFill>
          <a:ln/>
        </p:spPr>
      </p:sp>
      <p:sp>
        <p:nvSpPr>
          <p:cNvPr id="13" name="Shape 11"/>
          <p:cNvSpPr/>
          <p:nvPr/>
        </p:nvSpPr>
        <p:spPr>
          <a:xfrm>
            <a:off x="365760" y="2523744"/>
            <a:ext cx="1554480" cy="292608"/>
          </a:xfrm>
          <a:prstGeom prst="rect">
            <a:avLst/>
          </a:prstGeom>
          <a:solidFill>
            <a:srgbClr val="4CAF50"/>
          </a:solidFill>
          <a:ln/>
        </p:spPr>
      </p:sp>
      <p:sp>
        <p:nvSpPr>
          <p:cNvPr id="14" name="Text 12"/>
          <p:cNvSpPr/>
          <p:nvPr/>
        </p:nvSpPr>
        <p:spPr>
          <a:xfrm>
            <a:off x="365760" y="2523744"/>
            <a:ext cx="15544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ENVIRONMENTAL</a:t>
            </a:r>
            <a:endParaRPr lang="en-US" sz="900" dirty="0"/>
          </a:p>
        </p:txBody>
      </p:sp>
      <p:sp>
        <p:nvSpPr>
          <p:cNvPr id="15" name="Text 13"/>
          <p:cNvSpPr/>
          <p:nvPr/>
        </p:nvSpPr>
        <p:spPr>
          <a:xfrm>
            <a:off x="2057400" y="2560320"/>
            <a:ext cx="6675120" cy="228600"/>
          </a:xfrm>
          <a:prstGeom prst="rect">
            <a:avLst/>
          </a:prstGeom>
          <a:noFill/>
          <a:ln/>
        </p:spPr>
        <p:txBody>
          <a:bodyPr wrap="square" lIns="0" tIns="0" rIns="0" bIns="0" rtlCol="0" anchor="ctr"/>
          <a:lstStyle/>
          <a:p>
            <a:pPr indent="0" marL="0">
              <a:buNone/>
            </a:pPr>
            <a:r>
              <a:rPr lang="en-US" sz="1050" i="1" dirty="0">
                <a:solidFill>
                  <a:srgbClr val="4CAF50"/>
                </a:solidFill>
                <a:latin typeface="Calibri" pitchFamily="34" charset="0"/>
                <a:ea typeface="Calibri" pitchFamily="34" charset="-122"/>
                <a:cs typeface="Calibri" pitchFamily="34" charset="-120"/>
              </a:rPr>
              <a:t>What happens if something escapes the lab?</a:t>
            </a:r>
            <a:endParaRPr lang="en-US" sz="1050" dirty="0"/>
          </a:p>
        </p:txBody>
      </p:sp>
      <p:sp>
        <p:nvSpPr>
          <p:cNvPr id="16" name="Text 14"/>
          <p:cNvSpPr/>
          <p:nvPr/>
        </p:nvSpPr>
        <p:spPr>
          <a:xfrm>
            <a:off x="502920" y="2852928"/>
            <a:ext cx="8275320" cy="822960"/>
          </a:xfrm>
          <a:prstGeom prst="rect">
            <a:avLst/>
          </a:prstGeom>
          <a:noFill/>
          <a:ln/>
        </p:spPr>
        <p:txBody>
          <a:bodyPr wrap="square" rtlCol="0" anchor="ctr"/>
          <a:lstStyle/>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Accidental release of engineered organisms or dangerous pathogens from containment facilities — even from BSL-4 labs — poses serious, potentially irreversible threats to local and global ecosystems.</a:t>
            </a:r>
            <a:endParaRPr lang="en-US" sz="1000" dirty="0"/>
          </a:p>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Large-scale production of carbon nanotubes and other nanomaterials generates toxic industrial waste, and the long-term environmental persistence of nanoparticles is still poorly understood.</a:t>
            </a:r>
            <a:endParaRPr lang="en-US" sz="1000" dirty="0"/>
          </a:p>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Synthetic biology organisms designed for biodefence could outcompete native species if released, disrupting food chains and biodiversity.</a:t>
            </a:r>
            <a:endParaRPr lang="en-US" sz="1000" dirty="0"/>
          </a:p>
        </p:txBody>
      </p:sp>
      <p:sp>
        <p:nvSpPr>
          <p:cNvPr id="17" name="Shape 15"/>
          <p:cNvSpPr/>
          <p:nvPr/>
        </p:nvSpPr>
        <p:spPr>
          <a:xfrm>
            <a:off x="274320" y="3822192"/>
            <a:ext cx="8595360" cy="1216152"/>
          </a:xfrm>
          <a:prstGeom prst="rect">
            <a:avLst/>
          </a:prstGeom>
          <a:solidFill>
            <a:srgbClr val="161616"/>
          </a:solidFill>
          <a:ln/>
        </p:spPr>
      </p:sp>
      <p:sp>
        <p:nvSpPr>
          <p:cNvPr id="18" name="Shape 16"/>
          <p:cNvSpPr/>
          <p:nvPr/>
        </p:nvSpPr>
        <p:spPr>
          <a:xfrm>
            <a:off x="274320" y="3822192"/>
            <a:ext cx="91440" cy="1216152"/>
          </a:xfrm>
          <a:prstGeom prst="rect">
            <a:avLst/>
          </a:prstGeom>
          <a:solidFill>
            <a:srgbClr val="E53935"/>
          </a:solidFill>
          <a:ln/>
        </p:spPr>
      </p:sp>
      <p:sp>
        <p:nvSpPr>
          <p:cNvPr id="19" name="Shape 17"/>
          <p:cNvSpPr/>
          <p:nvPr/>
        </p:nvSpPr>
        <p:spPr>
          <a:xfrm>
            <a:off x="365760" y="3822192"/>
            <a:ext cx="1554480" cy="292608"/>
          </a:xfrm>
          <a:prstGeom prst="rect">
            <a:avLst/>
          </a:prstGeom>
          <a:solidFill>
            <a:srgbClr val="E53935"/>
          </a:solidFill>
          <a:ln/>
        </p:spPr>
      </p:sp>
      <p:sp>
        <p:nvSpPr>
          <p:cNvPr id="20" name="Text 18"/>
          <p:cNvSpPr/>
          <p:nvPr/>
        </p:nvSpPr>
        <p:spPr>
          <a:xfrm>
            <a:off x="365760" y="3822192"/>
            <a:ext cx="155448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ETHICAL</a:t>
            </a:r>
            <a:endParaRPr lang="en-US" sz="900" dirty="0"/>
          </a:p>
        </p:txBody>
      </p:sp>
      <p:sp>
        <p:nvSpPr>
          <p:cNvPr id="21" name="Text 19"/>
          <p:cNvSpPr/>
          <p:nvPr/>
        </p:nvSpPr>
        <p:spPr>
          <a:xfrm>
            <a:off x="2057400" y="3858768"/>
            <a:ext cx="6675120" cy="228600"/>
          </a:xfrm>
          <a:prstGeom prst="rect">
            <a:avLst/>
          </a:prstGeom>
          <a:noFill/>
          <a:ln/>
        </p:spPr>
        <p:txBody>
          <a:bodyPr wrap="square" lIns="0" tIns="0" rIns="0" bIns="0" rtlCol="0" anchor="ctr"/>
          <a:lstStyle/>
          <a:p>
            <a:pPr indent="0" marL="0">
              <a:buNone/>
            </a:pPr>
            <a:r>
              <a:rPr lang="en-US" sz="1050" i="1" dirty="0">
                <a:solidFill>
                  <a:srgbClr val="E53935"/>
                </a:solidFill>
                <a:latin typeface="Calibri" pitchFamily="34" charset="0"/>
                <a:ea typeface="Calibri" pitchFamily="34" charset="-122"/>
                <a:cs typeface="Calibri" pitchFamily="34" charset="-120"/>
              </a:rPr>
              <a:t>Where do we draw the line between protection and weaponisation?</a:t>
            </a:r>
            <a:endParaRPr lang="en-US" sz="1050" dirty="0"/>
          </a:p>
        </p:txBody>
      </p:sp>
      <p:sp>
        <p:nvSpPr>
          <p:cNvPr id="22" name="Text 20"/>
          <p:cNvSpPr/>
          <p:nvPr/>
        </p:nvSpPr>
        <p:spPr>
          <a:xfrm>
            <a:off x="502920" y="4151376"/>
            <a:ext cx="8275320" cy="822960"/>
          </a:xfrm>
          <a:prstGeom prst="rect">
            <a:avLst/>
          </a:prstGeom>
          <a:noFill/>
          <a:ln/>
        </p:spPr>
        <p:txBody>
          <a:bodyPr wrap="square" rtlCol="0" anchor="ctr"/>
          <a:lstStyle/>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The Biological Weapons Convention (BWC, 1972) bans the development, production and stockpiling of biological weapons — but has no formal verification mechanism, making enforcement largely voluntary.</a:t>
            </a:r>
            <a:endParaRPr lang="en-US" sz="1000" dirty="0"/>
          </a:p>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Advances in CRISPR and synthetic biology are rapidly lowering the technical barrier for misuse by non-state actors, including terrorist groups, raising biosecurity risks globally.</a:t>
            </a:r>
            <a:endParaRPr lang="en-US" sz="1000" dirty="0"/>
          </a:p>
          <a:p>
            <a:pPr marL="342900" indent="-342900">
              <a:buSzPct val="100000"/>
              <a:buChar char="•"/>
            </a:pPr>
            <a:r>
              <a:rPr lang="en-US" sz="1000" dirty="0">
                <a:solidFill>
                  <a:srgbClr val="CCCCCC"/>
                </a:solidFill>
                <a:latin typeface="Calibri" pitchFamily="34" charset="0"/>
                <a:ea typeface="Calibri" pitchFamily="34" charset="-122"/>
                <a:cs typeface="Calibri" pitchFamily="34" charset="-120"/>
              </a:rPr>
              <a:t>Scientists working in dual-use research face complex moral dilemmas: the same knowledge that produces a life-saving vaccine could — in the wrong hands — be used to engineer a more lethal pathogen.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D4AF37"/>
          </a:solidFill>
          <a:ln/>
        </p:spPr>
      </p:sp>
      <p:sp>
        <p:nvSpPr>
          <p:cNvPr id="3" name="Text 1"/>
          <p:cNvSpPr/>
          <p:nvPr/>
        </p:nvSpPr>
        <p:spPr>
          <a:xfrm>
            <a:off x="320040" y="0"/>
            <a:ext cx="8503920" cy="658368"/>
          </a:xfrm>
          <a:prstGeom prst="rect">
            <a:avLst/>
          </a:prstGeom>
          <a:noFill/>
          <a:ln/>
        </p:spPr>
        <p:txBody>
          <a:bodyPr wrap="square" lIns="0" tIns="0" rIns="0" bIns="0" rtlCol="0" anchor="ctr"/>
          <a:lstStyle/>
          <a:p>
            <a:pPr indent="0" marL="0">
              <a:buNone/>
            </a:pPr>
            <a:r>
              <a:rPr lang="en-US" sz="2100" b="1" dirty="0">
                <a:solidFill>
                  <a:srgbClr val="0A0A0A"/>
                </a:solidFill>
                <a:latin typeface="Arial Black" pitchFamily="34" charset="0"/>
                <a:ea typeface="Arial Black" pitchFamily="34" charset="-122"/>
                <a:cs typeface="Arial Black" pitchFamily="34" charset="-120"/>
              </a:rPr>
              <a:t>CONCLUSION</a:t>
            </a:r>
            <a:endParaRPr lang="en-US" sz="2100" dirty="0"/>
          </a:p>
        </p:txBody>
      </p:sp>
      <p:sp>
        <p:nvSpPr>
          <p:cNvPr id="4" name="Text 2"/>
          <p:cNvSpPr/>
          <p:nvPr/>
        </p:nvSpPr>
        <p:spPr>
          <a:xfrm>
            <a:off x="320040" y="749808"/>
            <a:ext cx="8503920" cy="457200"/>
          </a:xfrm>
          <a:prstGeom prst="rect">
            <a:avLst/>
          </a:prstGeom>
          <a:noFill/>
          <a:ln/>
        </p:spPr>
        <p:txBody>
          <a:bodyPr wrap="square" lIns="0" tIns="0" rIns="0" bIns="0" rtlCol="0" anchor="ctr"/>
          <a:lstStyle/>
          <a:p>
            <a:pPr indent="0" marL="0">
              <a:buNone/>
            </a:pPr>
            <a:r>
              <a:rPr lang="en-US" sz="1150" i="1" dirty="0">
                <a:solidFill>
                  <a:srgbClr val="AAAAAA"/>
                </a:solidFill>
                <a:latin typeface="Calibri" pitchFamily="34" charset="0"/>
                <a:ea typeface="Calibri" pitchFamily="34" charset="-122"/>
                <a:cs typeface="Calibri" pitchFamily="34" charset="-120"/>
              </a:rPr>
              <a:t>Black Biotechnology occupies a unique and sensitive space within the life sciences. As this presentation has demonstrated, it is a field shaped equally by scientific ambition, national security imperatives, and ethical responsibility.</a:t>
            </a:r>
            <a:endParaRPr lang="en-US" sz="1150" dirty="0"/>
          </a:p>
        </p:txBody>
      </p:sp>
      <p:sp>
        <p:nvSpPr>
          <p:cNvPr id="5" name="Shape 3"/>
          <p:cNvSpPr/>
          <p:nvPr/>
        </p:nvSpPr>
        <p:spPr>
          <a:xfrm>
            <a:off x="228600" y="1389888"/>
            <a:ext cx="502920" cy="502920"/>
          </a:xfrm>
          <a:prstGeom prst="ellipse">
            <a:avLst/>
          </a:prstGeom>
          <a:solidFill>
            <a:srgbClr val="D4AF37"/>
          </a:solidFill>
          <a:ln/>
        </p:spPr>
      </p:sp>
      <p:sp>
        <p:nvSpPr>
          <p:cNvPr id="6" name="Text 4"/>
          <p:cNvSpPr/>
          <p:nvPr/>
        </p:nvSpPr>
        <p:spPr>
          <a:xfrm>
            <a:off x="228600" y="1389888"/>
            <a:ext cx="502920" cy="502920"/>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01</a:t>
            </a:r>
            <a:endParaRPr lang="en-US" sz="1100" dirty="0"/>
          </a:p>
        </p:txBody>
      </p:sp>
      <p:sp>
        <p:nvSpPr>
          <p:cNvPr id="7" name="Text 5"/>
          <p:cNvSpPr/>
          <p:nvPr/>
        </p:nvSpPr>
        <p:spPr>
          <a:xfrm>
            <a:off x="914400" y="1389888"/>
            <a:ext cx="192024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Meaning</a:t>
            </a:r>
            <a:endParaRPr lang="en-US" sz="1300" dirty="0"/>
          </a:p>
        </p:txBody>
      </p:sp>
      <p:sp>
        <p:nvSpPr>
          <p:cNvPr id="8" name="Text 6"/>
          <p:cNvSpPr/>
          <p:nvPr/>
        </p:nvSpPr>
        <p:spPr>
          <a:xfrm>
            <a:off x="914400" y="1664208"/>
            <a:ext cx="7955280" cy="329184"/>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Black Biotechnology covers military biodefence, biosurveillance, industrial hazardous bioprocesses and carbon nanomaterials — a broad and sensitive classification.</a:t>
            </a:r>
            <a:endParaRPr lang="en-US" sz="1100" dirty="0"/>
          </a:p>
        </p:txBody>
      </p:sp>
      <p:sp>
        <p:nvSpPr>
          <p:cNvPr id="9" name="Shape 7"/>
          <p:cNvSpPr/>
          <p:nvPr/>
        </p:nvSpPr>
        <p:spPr>
          <a:xfrm>
            <a:off x="228600" y="2139696"/>
            <a:ext cx="502920" cy="502920"/>
          </a:xfrm>
          <a:prstGeom prst="ellipse">
            <a:avLst/>
          </a:prstGeom>
          <a:solidFill>
            <a:srgbClr val="D4AF37"/>
          </a:solidFill>
          <a:ln/>
        </p:spPr>
      </p:sp>
      <p:sp>
        <p:nvSpPr>
          <p:cNvPr id="10" name="Text 8"/>
          <p:cNvSpPr/>
          <p:nvPr/>
        </p:nvSpPr>
        <p:spPr>
          <a:xfrm>
            <a:off x="228600" y="2139696"/>
            <a:ext cx="502920" cy="502920"/>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02</a:t>
            </a:r>
            <a:endParaRPr lang="en-US" sz="1100" dirty="0"/>
          </a:p>
        </p:txBody>
      </p:sp>
      <p:sp>
        <p:nvSpPr>
          <p:cNvPr id="11" name="Text 9"/>
          <p:cNvSpPr/>
          <p:nvPr/>
        </p:nvSpPr>
        <p:spPr>
          <a:xfrm>
            <a:off x="914400" y="2139696"/>
            <a:ext cx="192024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Objectives</a:t>
            </a:r>
            <a:endParaRPr lang="en-US" sz="1300" dirty="0"/>
          </a:p>
        </p:txBody>
      </p:sp>
      <p:sp>
        <p:nvSpPr>
          <p:cNvPr id="12" name="Text 10"/>
          <p:cNvSpPr/>
          <p:nvPr/>
        </p:nvSpPr>
        <p:spPr>
          <a:xfrm>
            <a:off x="914400" y="2414016"/>
            <a:ext cx="7955280" cy="329184"/>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Its goals are clear: protect populations from biological threats, build detection and containment capacity, and advance dual-use technologies responsibly.</a:t>
            </a:r>
            <a:endParaRPr lang="en-US" sz="1100" dirty="0"/>
          </a:p>
        </p:txBody>
      </p:sp>
      <p:sp>
        <p:nvSpPr>
          <p:cNvPr id="13" name="Shape 11"/>
          <p:cNvSpPr/>
          <p:nvPr/>
        </p:nvSpPr>
        <p:spPr>
          <a:xfrm>
            <a:off x="228600" y="2889504"/>
            <a:ext cx="502920" cy="502920"/>
          </a:xfrm>
          <a:prstGeom prst="ellipse">
            <a:avLst/>
          </a:prstGeom>
          <a:solidFill>
            <a:srgbClr val="D4AF37"/>
          </a:solidFill>
          <a:ln/>
        </p:spPr>
      </p:sp>
      <p:sp>
        <p:nvSpPr>
          <p:cNvPr id="14" name="Text 12"/>
          <p:cNvSpPr/>
          <p:nvPr/>
        </p:nvSpPr>
        <p:spPr>
          <a:xfrm>
            <a:off x="228600" y="2889504"/>
            <a:ext cx="502920" cy="502920"/>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03</a:t>
            </a:r>
            <a:endParaRPr lang="en-US" sz="1100" dirty="0"/>
          </a:p>
        </p:txBody>
      </p:sp>
      <p:sp>
        <p:nvSpPr>
          <p:cNvPr id="15" name="Text 13"/>
          <p:cNvSpPr/>
          <p:nvPr/>
        </p:nvSpPr>
        <p:spPr>
          <a:xfrm>
            <a:off x="914400" y="2889504"/>
            <a:ext cx="192024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Current Applications</a:t>
            </a:r>
            <a:endParaRPr lang="en-US" sz="1300" dirty="0"/>
          </a:p>
        </p:txBody>
      </p:sp>
      <p:sp>
        <p:nvSpPr>
          <p:cNvPr id="16" name="Text 14"/>
          <p:cNvSpPr/>
          <p:nvPr/>
        </p:nvSpPr>
        <p:spPr>
          <a:xfrm>
            <a:off x="914400" y="3163824"/>
            <a:ext cx="7955280" cy="329184"/>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BioThrax vaccines, JBAIDS detection platforms, BSL-4 labs, carbon nanotubes, melanin biosensors and recombinant melanin are all active, real-world examples.</a:t>
            </a:r>
            <a:endParaRPr lang="en-US" sz="1100" dirty="0"/>
          </a:p>
        </p:txBody>
      </p:sp>
      <p:sp>
        <p:nvSpPr>
          <p:cNvPr id="17" name="Shape 15"/>
          <p:cNvSpPr/>
          <p:nvPr/>
        </p:nvSpPr>
        <p:spPr>
          <a:xfrm>
            <a:off x="228600" y="3639312"/>
            <a:ext cx="502920" cy="502920"/>
          </a:xfrm>
          <a:prstGeom prst="ellipse">
            <a:avLst/>
          </a:prstGeom>
          <a:solidFill>
            <a:srgbClr val="D4AF37"/>
          </a:solidFill>
          <a:ln/>
        </p:spPr>
      </p:sp>
      <p:sp>
        <p:nvSpPr>
          <p:cNvPr id="18" name="Text 16"/>
          <p:cNvSpPr/>
          <p:nvPr/>
        </p:nvSpPr>
        <p:spPr>
          <a:xfrm>
            <a:off x="228600" y="3639312"/>
            <a:ext cx="502920" cy="502920"/>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04</a:t>
            </a:r>
            <a:endParaRPr lang="en-US" sz="1100" dirty="0"/>
          </a:p>
        </p:txBody>
      </p:sp>
      <p:sp>
        <p:nvSpPr>
          <p:cNvPr id="19" name="Text 17"/>
          <p:cNvSpPr/>
          <p:nvPr/>
        </p:nvSpPr>
        <p:spPr>
          <a:xfrm>
            <a:off x="914400" y="3639312"/>
            <a:ext cx="192024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Future Prospects</a:t>
            </a:r>
            <a:endParaRPr lang="en-US" sz="1300" dirty="0"/>
          </a:p>
        </p:txBody>
      </p:sp>
      <p:sp>
        <p:nvSpPr>
          <p:cNvPr id="20" name="Text 18"/>
          <p:cNvSpPr/>
          <p:nvPr/>
        </p:nvSpPr>
        <p:spPr>
          <a:xfrm>
            <a:off x="914400" y="3913632"/>
            <a:ext cx="7955280" cy="329184"/>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CRISPR-based biodefence, synthetic biology shields, melanin photothermal therapy and AI-driven surveillance represent the field's most exciting emerging frontiers.</a:t>
            </a:r>
            <a:endParaRPr lang="en-US" sz="1100" dirty="0"/>
          </a:p>
        </p:txBody>
      </p:sp>
      <p:sp>
        <p:nvSpPr>
          <p:cNvPr id="21" name="Shape 19"/>
          <p:cNvSpPr/>
          <p:nvPr/>
        </p:nvSpPr>
        <p:spPr>
          <a:xfrm>
            <a:off x="228600" y="4389120"/>
            <a:ext cx="502920" cy="502920"/>
          </a:xfrm>
          <a:prstGeom prst="ellipse">
            <a:avLst/>
          </a:prstGeom>
          <a:solidFill>
            <a:srgbClr val="D4AF37"/>
          </a:solidFill>
          <a:ln/>
        </p:spPr>
      </p:sp>
      <p:sp>
        <p:nvSpPr>
          <p:cNvPr id="22" name="Text 20"/>
          <p:cNvSpPr/>
          <p:nvPr/>
        </p:nvSpPr>
        <p:spPr>
          <a:xfrm>
            <a:off x="228600" y="4389120"/>
            <a:ext cx="502920" cy="502920"/>
          </a:xfrm>
          <a:prstGeom prst="rect">
            <a:avLst/>
          </a:prstGeom>
          <a:noFill/>
          <a:ln/>
        </p:spPr>
        <p:txBody>
          <a:bodyPr wrap="square" lIns="0" tIns="0" rIns="0" bIns="0" rtlCol="0" anchor="ctr"/>
          <a:lstStyle/>
          <a:p>
            <a:pPr algn="ctr" indent="0" marL="0">
              <a:buNone/>
            </a:pPr>
            <a:r>
              <a:rPr lang="en-US" sz="1100" b="1" dirty="0">
                <a:solidFill>
                  <a:srgbClr val="0A0A0A"/>
                </a:solidFill>
                <a:latin typeface="Arial Black" pitchFamily="34" charset="0"/>
                <a:ea typeface="Arial Black" pitchFamily="34" charset="-122"/>
                <a:cs typeface="Arial Black" pitchFamily="34" charset="-120"/>
              </a:rPr>
              <a:t>05</a:t>
            </a:r>
            <a:endParaRPr lang="en-US" sz="1100" dirty="0"/>
          </a:p>
        </p:txBody>
      </p:sp>
      <p:sp>
        <p:nvSpPr>
          <p:cNvPr id="23" name="Text 21"/>
          <p:cNvSpPr/>
          <p:nvPr/>
        </p:nvSpPr>
        <p:spPr>
          <a:xfrm>
            <a:off x="914400" y="4389120"/>
            <a:ext cx="1920240" cy="256032"/>
          </a:xfrm>
          <a:prstGeom prst="rect">
            <a:avLst/>
          </a:prstGeom>
          <a:noFill/>
          <a:ln/>
        </p:spPr>
        <p:txBody>
          <a:bodyPr wrap="square" lIns="0" tIns="0" rIns="0" bIns="0" rtlCol="0" anchor="ctr"/>
          <a:lstStyle/>
          <a:p>
            <a:pPr indent="0" marL="0">
              <a:buNone/>
            </a:pPr>
            <a:r>
              <a:rPr lang="en-US" sz="1300" b="1" dirty="0">
                <a:solidFill>
                  <a:srgbClr val="D4AF37"/>
                </a:solidFill>
                <a:latin typeface="Calibri" pitchFamily="34" charset="0"/>
                <a:ea typeface="Calibri" pitchFamily="34" charset="-122"/>
                <a:cs typeface="Calibri" pitchFamily="34" charset="-120"/>
              </a:rPr>
              <a:t>Concerns</a:t>
            </a:r>
            <a:endParaRPr lang="en-US" sz="1300" dirty="0"/>
          </a:p>
        </p:txBody>
      </p:sp>
      <p:sp>
        <p:nvSpPr>
          <p:cNvPr id="24" name="Text 22"/>
          <p:cNvSpPr/>
          <p:nvPr/>
        </p:nvSpPr>
        <p:spPr>
          <a:xfrm>
            <a:off x="914400" y="4663440"/>
            <a:ext cx="7955280" cy="329184"/>
          </a:xfrm>
          <a:prstGeom prst="rect">
            <a:avLst/>
          </a:prstGeom>
          <a:noFill/>
          <a:ln/>
        </p:spPr>
        <p:txBody>
          <a:bodyPr wrap="square" lIns="0" tIns="0" rIns="0" bIns="0" rtlCol="0" anchor="ctr"/>
          <a:lstStyle/>
          <a:p>
            <a:pPr indent="0" marL="0">
              <a:buNone/>
            </a:pPr>
            <a:r>
              <a:rPr lang="en-US" sz="1100" dirty="0">
                <a:solidFill>
                  <a:srgbClr val="CCCCCC"/>
                </a:solidFill>
                <a:latin typeface="Calibri" pitchFamily="34" charset="0"/>
                <a:ea typeface="Calibri" pitchFamily="34" charset="-122"/>
                <a:cs typeface="Calibri" pitchFamily="34" charset="-120"/>
              </a:rPr>
              <a:t>Without strong governance, equitable access and ethical frameworks, the same tools that protect life could be misused — making oversight as important as innovation.</a:t>
            </a:r>
            <a:endParaRPr lang="en-US" sz="1100" dirty="0"/>
          </a:p>
        </p:txBody>
      </p:sp>
      <p:sp>
        <p:nvSpPr>
          <p:cNvPr id="25" name="Shape 23"/>
          <p:cNvSpPr/>
          <p:nvPr/>
        </p:nvSpPr>
        <p:spPr>
          <a:xfrm>
            <a:off x="0" y="4818888"/>
            <a:ext cx="9144000" cy="324612"/>
          </a:xfrm>
          <a:prstGeom prst="rect">
            <a:avLst/>
          </a:prstGeom>
          <a:solidFill>
            <a:srgbClr val="D4AF37"/>
          </a:solidFill>
          <a:ln/>
        </p:spPr>
      </p:sp>
      <p:sp>
        <p:nvSpPr>
          <p:cNvPr id="26" name="Text 24"/>
          <p:cNvSpPr/>
          <p:nvPr/>
        </p:nvSpPr>
        <p:spPr>
          <a:xfrm>
            <a:off x="274320" y="4818888"/>
            <a:ext cx="8595360" cy="324612"/>
          </a:xfrm>
          <a:prstGeom prst="rect">
            <a:avLst/>
          </a:prstGeom>
          <a:noFill/>
          <a:ln/>
        </p:spPr>
        <p:txBody>
          <a:bodyPr wrap="square" lIns="0" tIns="0" rIns="0" bIns="0" rtlCol="0" anchor="ctr"/>
          <a:lstStyle/>
          <a:p>
            <a:pPr algn="ctr" indent="0" marL="0">
              <a:buNone/>
            </a:pPr>
            <a:r>
              <a:rPr lang="en-US" sz="1100" dirty="0">
                <a:solidFill>
                  <a:srgbClr val="0A0A0A"/>
                </a:solidFill>
                <a:latin typeface="Calibri" pitchFamily="34" charset="0"/>
                <a:ea typeface="Calibri" pitchFamily="34" charset="-122"/>
                <a:cs typeface="Calibri" pitchFamily="34" charset="-120"/>
              </a:rPr>
              <a:t>SBC 294 · Fundamentals of Biotechnology  |  Group Presentation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2026-05-21T09:50:56Z</dcterms:created>
  <dcterms:modified xsi:type="dcterms:W3CDTF">2026-05-21T09:50:56Z</dcterms:modified>
</cp:coreProperties>
</file>